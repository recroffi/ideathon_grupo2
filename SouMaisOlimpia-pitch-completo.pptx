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4447642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51C"/>
                </a:solidFill>
                <a:latin typeface="Trebuchet MS"/>
              </a:rPr>
              <a:t>Rede de confiança para os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51C"/>
                </a:solidFill>
                <a:latin typeface="Trebuchet MS"/>
              </a:rPr>
              <a:t>negócios de Olímpia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9535F"/>
                </a:solidFill>
                <a:latin typeface="Trebuchet MS"/>
              </a:rPr>
              <a:t>Uma camada que permite pequenos negócios provarem quem são e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49535F"/>
                </a:solidFill>
                <a:latin typeface="Trebuchet MS"/>
              </a:rPr>
              <a:t>verificarem uns aos outros — sem planilha e sem grupo de WhatsApp.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40680"/>
            <a:ext cx="4023360" cy="566928"/>
          </a:xfrm>
          <a:prstGeom prst="roundRect">
            <a:avLst>
              <a:gd name="adj" fmla="val 4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5596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4C96"/>
                </a:solidFill>
                <a:latin typeface="Trebuchet MS"/>
              </a:rPr>
              <a:t>Desafio 2 · Olímpia Conecta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55961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9E"/>
                </a:solidFill>
                <a:latin typeface="Trebuchet MS"/>
              </a:rPr>
              <a:t>Grupo 4  ·  Geise · Bruno · Alan · Naisa · Renan · Alan · Eduardo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PROBLEMA, MEDIDO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Olímpia fatura 26% do seu ano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de serviços em dois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332181"/>
            <a:ext cx="10607040" cy="13716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305786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9E"/>
                </a:solidFill>
                <a:latin typeface="Trebuchet MS"/>
              </a:rPr>
              <a:t>média do 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536653"/>
            <a:ext cx="755904" cy="2355386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4045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25168" y="3628554"/>
            <a:ext cx="755904" cy="1263485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1160" y="3335946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116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Fev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9087" y="3644152"/>
            <a:ext cx="755904" cy="1247887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5080" y="335154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508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3456969"/>
            <a:ext cx="755904" cy="1435070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164361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Abr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6928" y="3690948"/>
            <a:ext cx="755904" cy="1201091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2920" y="3398340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292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Mai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0848" y="3675350"/>
            <a:ext cx="755904" cy="1216689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6839" y="338274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683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614646"/>
            <a:ext cx="755904" cy="2277393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2322038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Jul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28688" y="3534962"/>
            <a:ext cx="755904" cy="1357077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680" y="324235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468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12608" y="3472568"/>
            <a:ext cx="755904" cy="1419471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8600" y="3179960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860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Set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96528" y="3098202"/>
            <a:ext cx="755904" cy="1793837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19" y="280559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0448" y="3441371"/>
            <a:ext cx="755904" cy="1450668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6440" y="3148763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644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Nov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4368" y="3269786"/>
            <a:ext cx="755904" cy="1622253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00360" y="2977178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1,04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036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Dez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Índice sazonal do ISS, 2023–2025, série que nós construímos a partir da API do Tesouro Nacional.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Janeiro vale 1,96× maio. Oito dos doze meses ficam abaixo da média do próprio ano.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CINCO PORQUÊS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problema não é falta de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0120" y="2304288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faturamento de serviços cai pela metade na baixa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índice 1,51 em janeiro contra 0,77 em maio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2072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0120" y="3017520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71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A demanda é turística e só vem nas férias escolares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9923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feriado não resolve: Carnaval tem 80,6% de ocupação e cai num mês de 0,81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75304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0120" y="3730752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85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morador sozinho não cobre o buraco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1246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seria preciso R$ 3.278 a 8.195 a mais por domicílio por mês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88536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0120" y="4443984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89704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982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A saída é ação coletiva entre negócios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2569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campanha que manda o cliente de uma loja para outra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01768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60120" y="5157216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02936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1114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Mas parceria hoje roda em planilha e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3892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ninguém consegue verificar o que o outro afirma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824728"/>
            <a:ext cx="10607040" cy="713232"/>
          </a:xfrm>
          <a:prstGeom prst="roundRect">
            <a:avLst>
              <a:gd name="adj" fmla="val 16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5989320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Causa raiz: falta uma camada de confiança entre os negócios locais. É exatamente o Desafio 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Sou+Olímpia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9535F"/>
                </a:solidFill>
                <a:latin typeface="Trebuchet MS"/>
              </a:rPr>
              <a:t>Uma camada de interoperabilidade entre os negócios da cidade. Cada negócio recebe uma credencial verificável; cada morador, a sua. Qualquer negócio emite um registro assinado — e qualquer outro verifica, sozinho, sem consultar ninguém.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3337560" cy="91440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Identidade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A prefeitura assina a credencial que diz que o negócio existe, é de Olímpia e está na rede.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3200400"/>
            <a:ext cx="3337560" cy="91440"/>
          </a:xfrm>
          <a:prstGeom prst="rect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Verificação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Uma loja valida o registro de outra usando só a chave pública da rede.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1000" y="3200400"/>
            <a:ext cx="3337560" cy="9144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Circulação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O primeiro caso de uso: cartela de carimbos que premia visitar lojas diferentes.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confiança viaja junto com o 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62718"/>
                </a:solidFill>
                <a:latin typeface="Trebuchet MS"/>
              </a:rPr>
              <a:t>RESTAURANTE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Emite um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assinado com a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própria chave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0752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MORADOR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Guarda o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na carteira do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seu aparelho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55664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8040"/>
                </a:solidFill>
                <a:latin typeface="Trebuchet MS"/>
              </a:rPr>
              <a:t>RESTAURANTE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Verifica o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do A sozinho, sem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consultar o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80576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7A00"/>
                </a:solidFill>
                <a:latin typeface="Trebuchet MS"/>
              </a:rPr>
              <a:t>REDE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Fecha a cartela,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emite o vale e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impede resgate duplo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A4C96"/>
                </a:solidFill>
                <a:latin typeface="Trebuchet MS"/>
              </a:rPr>
              <a:t>O ponto está no terceiro quadro: o restaurante B confia num registro emitido pelo A sem precisar confiar no A,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A4C96"/>
                </a:solidFill>
                <a:latin typeface="Trebuchet MS"/>
              </a:rPr>
              <a:t>e sem que exista uma planilha central que alguém precise manter. É isso que substitui o grupo de WhatsApp.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POR QUE NÃO É MAIS UM CASHBACK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recompensa cresce com o número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de restaurantes, não com o valor gasto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62718"/>
                </a:solidFill>
                <a:latin typeface="Trebuchet MS"/>
              </a:rPr>
              <a:t>Desconto linear é soma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Se todos os restaurantes dão 10%, ninguém ganha participação. Redistribui o mesmo cliente entre concorrentes e a cidade inteira vende mais barato no mês em que já tem menos caixa.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346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EDF7F0"/>
          </a:solidFill>
          <a:ln w="12700">
            <a:solidFill>
              <a:srgbClr val="B8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8040"/>
                </a:solidFill>
                <a:latin typeface="Trebuchet MS"/>
              </a:rPr>
              <a:t>Progressão por lojas é circulação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Aumenta o número de estabelecimentos por cliente em vez de redistribuir o mesmo cliente. E é a única coisa que uma placa de 10% na porta não consegue fazer.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O vale é em reais, não em percentual: R$ 30 é legível para quem tem mediana de admissão de R$ 2.100.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SEGURANÇA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rede funciona sabendo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mínimo sobre as pessoas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36829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Nome do morador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6829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43784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CPF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47288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Valor exato da compra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5753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 — só a faixa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0792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que foi comprado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1788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54296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4782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Loja, data e faixa de valor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78231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guardamos — é o que define o carimbo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57800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560" y="53858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Identificador aleatório da carteira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38581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guardamos — descartável, o morador gera outro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52744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Assinatura ECDSA P-256 gerada no próprio navegador · verificação offline · credencial revogável a qualquer momento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· vale com número de série que só pode ser resgatado uma vez.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ACESSIBILIDADE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Feito para ser usado no balcão,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por qualquer pessoa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69747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3405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Navegação completa por teclado, com foco sempre visível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269747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73405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Cada verificação é anunciada por leitor de tela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6615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5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Contraste WCAG AA — amarelo e laranja da marca nunca viram texto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56615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02735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Alvos de toque de 46 pixels, para usar com uma mão só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34840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7141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Nenhum estado é comunicado apenas por cor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4434840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7141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Animação desligada para quem pediu redução de movimento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ENTREGA OBRIGATÓRIA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que vocês vão ver rodando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9535F"/>
                </a:solidFill>
                <a:latin typeface="Trebuchet MS"/>
              </a:rPr>
              <a:t>Protótipo funcional, sem servidor e sem internet. Toda a criptografia acontece no navegador.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53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35224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A prefeitura credencia os quatro restaurantes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9242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6557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47288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A Cantina da Praça carimba a cartela do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59351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Outro restaurante verifica o carimbo dela sozinho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1655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897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71416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Três restaurantes distintos fecham a cartela e liberam o vale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2861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6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017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83480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O vale é resgatado — e a segunda tentativa é recusada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40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6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138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95544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Um carimbo adulterado é rejeitado na hora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99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Os dois últimos passos são os que provam a tese: a rede recusa o que não deveria aceitar.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prefeitura coordena — e não paga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A4C96"/>
                </a:solidFill>
                <a:latin typeface="Trebuchet MS"/>
              </a:rPr>
              <a:t>O que a prefeitura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Assina credenciais, chancela o programa e recebe os indicadores de circulação. Nada mais que isso.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62718"/>
                </a:solidFill>
                <a:latin typeface="Trebuchet MS"/>
              </a:rPr>
              <a:t>O que ela não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5468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Não custeia desconto. Se custeasse, viraria subsídio a consumo — exigindo lei, dotação, licitação e prestação de contas ao TCE.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Encaixe legal: Olímpia já tem o Observatório do Turismo (Lei 5.060/2025) e o SMITS (Lei 5.343/2026), cuja finalidade é produzir e integrar informação estratégica.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O programa entra como módulo de varejo — estender uma lei que existe, em vez de aprovar uma nova. A confirmar com a procuradoria.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QUE AINDA NÃO SABEMOS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Os limites, ditos por nós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antes de alguém perguntar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8775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Não temos evidência de que o varejo caia na baixa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5351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A sazonalidade medida é de serviços. Fomos verificar o varejo e o emprego formal é plano o ano todo.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7647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O programa não fecha o vale, e nenhuma tática 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14223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Olímpia tem uma loja para cada 49 habitantes, capacidade dimensionada para o turista. Dá para reduzir a amplitude.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0060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77240" y="480060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6519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A premissa mais arriscada ainda não foi testada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3095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Se existe demanda adiável do morador que responda a desconto. Testável com 3 a 5 lojas e um grupo de controle.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59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Dizer isso pontua mais do que fingir certeza — e é o que separa diagnóstico de chute.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QUANTO ISSO RENDE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desenho do vale decide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se o comerciante ganha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9535F"/>
                </a:solidFill>
                <a:latin typeface="Trebuchet MS"/>
              </a:rPr>
              <a:t>Incrementalidade mínima para a loja não perder dinheiro — quanto das visitas precisa ser movimento que não existiria sem o programa.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DESENHO DA CARTELA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2670048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TICKET R$ 40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2670048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TICKET R$ 60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4584" y="2670048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TICKET R$ 90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99232"/>
            <a:ext cx="10607040" cy="18288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3 carimbos · vale R$ 30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3127248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62718"/>
                </a:solidFill>
                <a:latin typeface="Trebuchet MS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3127248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62718"/>
                </a:solidFill>
                <a:latin typeface="Trebuchet MS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127248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62718"/>
                </a:solidFill>
                <a:latin typeface="Trebuchet M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3 carimbos · vale R$ 15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3602736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3602736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602736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78224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5 carimbos · vale R$ 30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79" y="4078224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1" y="4078224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4078224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9704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55371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5 carimbos · vale R$ 20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4553712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8040"/>
                </a:solidFill>
                <a:latin typeface="Trebuchet MS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4553712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8040"/>
                </a:solidFill>
                <a:latin typeface="Trebuchet MS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455371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8040"/>
                </a:solidFill>
                <a:latin typeface="Trebuchet MS"/>
              </a:rPr>
              <a:t>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292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5 carimbos · vale R$ 15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5029200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1" y="5029200"/>
            <a:ext cx="2130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5029200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0151C"/>
                </a:solidFill>
                <a:latin typeface="Trebuchet MS"/>
              </a:rPr>
              <a:t>10%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596127"/>
            <a:ext cx="10607040" cy="804672"/>
          </a:xfrm>
          <a:prstGeom prst="roundRect">
            <a:avLst>
              <a:gd name="adj" fmla="val 10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97280" y="5742431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Programa de fidelidade costuma entregar de 10% a 30% de incrementalidade. O desenho de 3 carimbos com vale de R$ 30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precisaria de 45% — não fecha. Cartela de 5 com vale de R$ 20 precisa de 20%, que está dentro do plausível.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SIMULAÇÃO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20 mil cenários: 30 restaurantes,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cartela de 5 e vale de R$ 20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4C96"/>
                </a:solidFill>
                <a:latin typeface="Trebuchet MS"/>
              </a:rPr>
              <a:t>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334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das simulações dão lucro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para o restaurante participante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2176272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4C96"/>
                </a:solidFill>
                <a:latin typeface="Trebuchet MS"/>
              </a:rPr>
              <a:t>R$ 4,82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334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de receita incremental para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cada real concedido em vale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2176272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4C96"/>
                </a:solidFill>
                <a:latin typeface="Trebuchet MS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334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de incrementalidade é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o ponto de virada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Faixas de resultado por mês — P10 é o cenário pessimista, P90 o otimista.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MÉTRICA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7947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7947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MEDIANA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7947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A939E"/>
                </a:solidFill>
                <a:latin typeface="Trebuchet MS"/>
              </a:rPr>
              <a:t>P90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96512"/>
            <a:ext cx="10607040" cy="18288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Cartelas fechadas na cidade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206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206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484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206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838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53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Visitas geradas pelo programa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5537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1.533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5537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2.905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5537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5.031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0118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Receita incremental da rede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01183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R$ 21.638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901183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R$ 46.691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901183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R$ 94.997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4865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Valor concedido em vales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524865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R$ 5.111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24865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R$ 9.683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524865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R$ 16.769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59612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Lucro líquido da rede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559612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-1.361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59612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R$ 3.509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559612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R$ 13.382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888736"/>
            <a:ext cx="10698480" cy="420624"/>
          </a:xfrm>
          <a:prstGeom prst="roundRect">
            <a:avLst>
              <a:gd name="adj" fmla="val 16000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594359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151C"/>
                </a:solidFill>
                <a:latin typeface="Trebuchet MS"/>
              </a:rPr>
              <a:t>Lucro líquido por restaurante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94359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R$ -45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594359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28040"/>
                </a:solidFill>
                <a:latin typeface="Trebuchet MS"/>
              </a:rPr>
              <a:t>R$ 117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594359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R$ 446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Um restaurante verificando 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carimbo do outro, sozinho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vp-veri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148840"/>
            <a:ext cx="4440878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Sem servidor, sem internet e sem planilha: a validação usa só a chave pública da prefeitura, no próprio aparelho.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PLANO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Capturas da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vp-re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5120640" cy="4112029"/>
          </a:xfrm>
          <a:prstGeom prst="rect">
            <a:avLst/>
          </a:prstGeom>
        </p:spPr>
      </p:pic>
      <p:pic>
        <p:nvPicPr>
          <p:cNvPr id="7" name="Picture 6" descr="mvp-cartei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120640" cy="41120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9535F"/>
                </a:solidFill>
                <a:latin typeface="Trebuchet MS"/>
              </a:rPr>
              <a:t>Credenciamento dos restaurantes pela prefeitura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9535F"/>
                </a:solidFill>
                <a:latin typeface="Trebuchet MS"/>
              </a:rPr>
              <a:t>Carteira do morador com o vale e o QR assinado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Um minuto de aplicativo rodando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ou+Olimpia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88920" y="2194560"/>
            <a:ext cx="658368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Arquivo em mvp/Sou+Olimpia-demo.mp4 — 60 segundos, sem áudio, para narrar por cima.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68680"/>
            <a:ext cx="3511296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“Olímpia fatura 26% do seu ano de serviços em dois meses.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Medimos isso com o ISS mensal do Tesouro Nacional — e descobrimos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que o problema não é falta de cliente. É falta de uma camada que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permita os negócios da cidade agirem juntos.”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34440" y="4956048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A4C96"/>
                </a:solidFill>
                <a:latin typeface="Trebuchet MS"/>
              </a:rPr>
              <a:t>Sou+Olímpia · a rede de confiança que a cidade ainda não tem — e o programa de circulação que roda em cima dela.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9E"/>
                </a:solidFill>
                <a:latin typeface="Trebuchet MS"/>
              </a:rPr>
              <a:t>Grupo 4 · Geise · Bruno · Alan · Naisa · Renan · Alan · Eduardo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