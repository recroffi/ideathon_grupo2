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868680"/>
            <a:ext cx="3511296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487168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>
                <a:solidFill>
                  <a:srgbClr val="10151C"/>
                </a:solidFill>
                <a:latin typeface="Trebuchet MS"/>
              </a:rPr>
              <a:t>Como vender durante o ano inteiro,</a:t>
            </a:r>
          </a:p>
          <a:p>
            <a:pPr algn="l">
              <a:lnSpc>
                <a:spcPct val="105000"/>
              </a:lnSpc>
            </a:pPr>
            <a:r>
              <a:rPr sz="3100" b="1">
                <a:solidFill>
                  <a:srgbClr val="10151C"/>
                </a:solidFill>
                <a:latin typeface="Trebuchet MS"/>
              </a:rPr>
              <a:t>mesmo quando o turista vai embora?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977639"/>
            <a:ext cx="10424160" cy="1234440"/>
          </a:xfrm>
          <a:prstGeom prst="roundRect">
            <a:avLst>
              <a:gd name="adj" fmla="val 7000"/>
            </a:avLst>
          </a:prstGeom>
          <a:solidFill>
            <a:srgbClr val="E7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422452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0A4C96"/>
                </a:solidFill>
                <a:latin typeface="Trebuchet MS"/>
              </a:rPr>
              <a:t>“Imagine manter uma empresa aberta durante os 12 meses do ano,</a:t>
            </a:r>
          </a:p>
          <a:p>
            <a:pPr algn="l">
              <a:lnSpc>
                <a:spcPct val="125000"/>
              </a:lnSpc>
            </a:pPr>
            <a:r>
              <a:rPr sz="1900" b="1">
                <a:solidFill>
                  <a:srgbClr val="0A4C96"/>
                </a:solidFill>
                <a:latin typeface="Trebuchet MS"/>
              </a:rPr>
              <a:t>mas vender muito menos durante boa parte desse período.”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8640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49535F"/>
                </a:solidFill>
                <a:latin typeface="Trebuchet MS"/>
              </a:rPr>
              <a:t>Uma rede local para conectar empresas e consumidores durante todo o ano.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A939E"/>
                </a:solidFill>
                <a:latin typeface="Trebuchet MS"/>
              </a:rPr>
              <a:t>Grupo 4 · Ideathon OlimpiaLab 2026 · Desafio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O QUE QUEREMOS RESOLVER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A empresa continua aberta,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mas o movimento não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32303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331720"/>
            <a:ext cx="101132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0151C"/>
                </a:solidFill>
                <a:latin typeface="Trebuchet MS"/>
              </a:rPr>
              <a:t>O turismo movimenta a cidade de forma desigual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090671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990087"/>
            <a:ext cx="101132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0151C"/>
                </a:solidFill>
                <a:latin typeface="Trebuchet MS"/>
              </a:rPr>
              <a:t>A empresa mantém sua estrutura durante todo o ano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49039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648456"/>
            <a:ext cx="101132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0151C"/>
                </a:solidFill>
                <a:latin typeface="Trebuchet MS"/>
              </a:rPr>
              <a:t>O fluxo de clientes se concentra em poucos períodos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407408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306824"/>
            <a:ext cx="101132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0151C"/>
                </a:solidFill>
                <a:latin typeface="Trebuchet MS"/>
              </a:rPr>
              <a:t>Na baixa, sobra capacidade instalada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10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97280" y="5362956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Trebuchet MS"/>
              </a:rPr>
              <a:t>O problema não é somente vender menos. É manter uma empresa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Trebuchet MS"/>
              </a:rPr>
              <a:t>funcionando com muito menos movimento.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A DESCOBERTA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Olímpia não tem uma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alta temporada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321423"/>
            <a:ext cx="6903720" cy="13716"/>
          </a:xfrm>
          <a:prstGeom prst="rect">
            <a:avLst/>
          </a:prstGeom>
          <a:solidFill>
            <a:srgbClr val="8A9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567043"/>
            <a:ext cx="483870" cy="2233556"/>
          </a:xfrm>
          <a:prstGeom prst="roundRect">
            <a:avLst>
              <a:gd name="adj" fmla="val 8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Jan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98270" y="3602467"/>
            <a:ext cx="483870" cy="1198132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2549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Fev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3580" y="3617258"/>
            <a:ext cx="483870" cy="1183341"/>
          </a:xfrm>
          <a:prstGeom prst="roundRect">
            <a:avLst>
              <a:gd name="adj" fmla="val 8000"/>
            </a:avLst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786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Mar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8889" y="3439757"/>
            <a:ext cx="483870" cy="1360842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317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Abr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24200" y="3661634"/>
            <a:ext cx="483870" cy="1138965"/>
          </a:xfrm>
          <a:prstGeom prst="roundRect">
            <a:avLst>
              <a:gd name="adj" fmla="val 8000"/>
            </a:avLst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848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Mai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99510" y="3646842"/>
            <a:ext cx="483870" cy="1153757"/>
          </a:xfrm>
          <a:prstGeom prst="roundRect">
            <a:avLst>
              <a:gd name="adj" fmla="val 8000"/>
            </a:avLst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379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Jun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4820" y="2641002"/>
            <a:ext cx="483870" cy="2159597"/>
          </a:xfrm>
          <a:prstGeom prst="roundRect">
            <a:avLst>
              <a:gd name="adj" fmla="val 8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910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Jul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0130" y="3513716"/>
            <a:ext cx="483870" cy="1286883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441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Ago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25439" y="3454549"/>
            <a:ext cx="483870" cy="1346050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972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49" y="3099547"/>
            <a:ext cx="483870" cy="1701052"/>
          </a:xfrm>
          <a:prstGeom prst="roundRect">
            <a:avLst>
              <a:gd name="adj" fmla="val 8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55029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6059" y="3424965"/>
            <a:ext cx="483870" cy="1375634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0339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Nov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51370" y="3262256"/>
            <a:ext cx="483870" cy="1538343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05650" y="4855464"/>
            <a:ext cx="57531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9535F"/>
                </a:solidFill>
                <a:latin typeface="Trebuchet MS"/>
              </a:rPr>
              <a:t>Dez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83480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A939E"/>
                </a:solidFill>
                <a:latin typeface="Trebuchet MS"/>
              </a:rPr>
              <a:t>Índice sazonal dos serviços · média do ano = 1,00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2377440"/>
            <a:ext cx="34290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250545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0151C"/>
                </a:solidFill>
                <a:latin typeface="Trebuchet MS"/>
              </a:rPr>
              <a:t>Janeiro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24688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>
                <a:solidFill>
                  <a:srgbClr val="0E6FD8"/>
                </a:solidFill>
                <a:latin typeface="Trebuchet MS"/>
              </a:rPr>
              <a:t>1,51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3017520"/>
            <a:ext cx="34290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29600" y="314553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0151C"/>
                </a:solidFill>
                <a:latin typeface="Trebuchet MS"/>
              </a:rPr>
              <a:t>Julho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>
                <a:solidFill>
                  <a:srgbClr val="0E6FD8"/>
                </a:solidFill>
                <a:latin typeface="Trebuchet MS"/>
              </a:rPr>
              <a:t>1,46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79" y="3657600"/>
            <a:ext cx="34290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29600" y="3785615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0151C"/>
                </a:solidFill>
                <a:latin typeface="Trebuchet MS"/>
              </a:rPr>
              <a:t>Maio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7490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>
                <a:solidFill>
                  <a:srgbClr val="E07A00"/>
                </a:solidFill>
                <a:latin typeface="Trebuchet MS"/>
              </a:rPr>
              <a:t>0,77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55279" y="4297680"/>
            <a:ext cx="34290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0" y="442569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0151C"/>
                </a:solidFill>
                <a:latin typeface="Trebuchet MS"/>
              </a:rPr>
              <a:t>Junho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43891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>
                <a:solidFill>
                  <a:srgbClr val="E07A00"/>
                </a:solidFill>
                <a:latin typeface="Trebuchet MS"/>
              </a:rPr>
              <a:t>0,78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440680"/>
            <a:ext cx="10607040" cy="731520"/>
          </a:xfrm>
          <a:prstGeom prst="roundRect">
            <a:avLst>
              <a:gd name="adj" fmla="val 10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97280" y="5614416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Trebuchet MS"/>
              </a:rPr>
              <a:t>Janeiro e julho concentram 26% do ISS anual de serviços.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A939E"/>
                </a:solidFill>
                <a:latin typeface="Trebuchet MS"/>
              </a:rPr>
              <a:t>Fontes cruzadas: Tesouro Nacional, CAGED, IBGE e Observatório do Turismo de Olímpia.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QUEM VAI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A empresa local é a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cliente do Sou+Olímpia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A4C96"/>
                </a:solidFill>
                <a:latin typeface="Trebuchet MS"/>
              </a:rPr>
              <a:t>Empresas participantes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072384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8176" y="2971800"/>
            <a:ext cx="42611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Restaurantes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547872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8176" y="3447288"/>
            <a:ext cx="42611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Hotéis e pousadas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4023360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3922776"/>
            <a:ext cx="42611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Parques e atrações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4498848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08176" y="4398264"/>
            <a:ext cx="42611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Agências e serviços ligados ao turismo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974336"/>
            <a:ext cx="118872" cy="11887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4873752"/>
            <a:ext cx="42611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Comércio local interessado em atrair moradores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28600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A4C96"/>
                </a:solidFill>
                <a:latin typeface="Trebuchet MS"/>
              </a:rPr>
              <a:t>Na rede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081527"/>
            <a:ext cx="146304" cy="146304"/>
          </a:xfrm>
          <a:prstGeom prst="ellipse">
            <a:avLst/>
          </a:prstGeom>
          <a:solidFill>
            <a:srgbClr val="D627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9992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Empresa: oferece o benefício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666744"/>
            <a:ext cx="146304" cy="146304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58444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Morador: utiliza o cupom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251959"/>
            <a:ext cx="146304" cy="146304"/>
          </a:xfrm>
          <a:prstGeom prst="ellipse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4169663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Sou+Olímpia: conecta e mede a circulação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837175"/>
            <a:ext cx="146304" cy="146304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475487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Trabalhadores: impactados pela manutenção da atividade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715000"/>
            <a:ext cx="10607040" cy="640080"/>
          </a:xfrm>
          <a:prstGeom prst="roundRect">
            <a:avLst>
              <a:gd name="adj" fmla="val 10000"/>
            </a:avLst>
          </a:prstGeom>
          <a:solidFill>
            <a:srgbClr val="E7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7280" y="5843016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A4C96"/>
                </a:solidFill>
                <a:latin typeface="Trebuchet MS"/>
              </a:rPr>
              <a:t>A empresa é a cliente. O trabalhador é quem sente o impacto quando a atividade se mantém.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POR QUE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Não é apenas uma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placa de desconto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4572000" cy="1371600"/>
          </a:xfrm>
          <a:prstGeom prst="roundRect">
            <a:avLst>
              <a:gd name="adj" fmla="val 7000"/>
            </a:avLst>
          </a:prstGeom>
          <a:solidFill>
            <a:srgbClr val="FBECEC"/>
          </a:solidFill>
          <a:ln w="12700">
            <a:solidFill>
              <a:srgbClr val="E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97280" y="254203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D62718"/>
                </a:solidFill>
                <a:latin typeface="Trebuchet MS"/>
              </a:rPr>
              <a:t>Uma placa na porta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4436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9535F"/>
                </a:solidFill>
                <a:latin typeface="Trebuchet MS"/>
              </a:rPr>
              <a:t>Oferece desconto em uma única loja, e resolve o problema só dela.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286000"/>
            <a:ext cx="5623560" cy="3200400"/>
          </a:xfrm>
          <a:prstGeom prst="roundRect">
            <a:avLst>
              <a:gd name="adj" fmla="val 6000"/>
            </a:avLst>
          </a:prstGeom>
          <a:solidFill>
            <a:srgbClr val="EDF7F0"/>
          </a:solidFill>
          <a:ln w="12700">
            <a:solidFill>
              <a:srgbClr val="B8D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80760" y="25420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8040"/>
                </a:solidFill>
                <a:latin typeface="Trebuchet MS"/>
              </a:rPr>
              <a:t>O Sou+Olímpia</a:t>
            </a:r>
          </a:p>
        </p:txBody>
      </p:sp>
      <p:sp>
        <p:nvSpPr>
          <p:cNvPr id="11" name="Oval 10"/>
          <p:cNvSpPr/>
          <p:nvPr/>
        </p:nvSpPr>
        <p:spPr>
          <a:xfrm>
            <a:off x="6080760" y="3072384"/>
            <a:ext cx="118872" cy="118872"/>
          </a:xfrm>
          <a:prstGeom prst="ellipse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2971800"/>
            <a:ext cx="4626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Conecta várias empresas</a:t>
            </a:r>
          </a:p>
        </p:txBody>
      </p:sp>
      <p:sp>
        <p:nvSpPr>
          <p:cNvPr id="13" name="Oval 12"/>
          <p:cNvSpPr/>
          <p:nvPr/>
        </p:nvSpPr>
        <p:spPr>
          <a:xfrm>
            <a:off x="6080760" y="3529584"/>
            <a:ext cx="118872" cy="118872"/>
          </a:xfrm>
          <a:prstGeom prst="ellipse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3429000"/>
            <a:ext cx="4626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Estimula o morador a visitar diferentes estabelecimentos</a:t>
            </a:r>
          </a:p>
        </p:txBody>
      </p:sp>
      <p:sp>
        <p:nvSpPr>
          <p:cNvPr id="15" name="Oval 14"/>
          <p:cNvSpPr/>
          <p:nvPr/>
        </p:nvSpPr>
        <p:spPr>
          <a:xfrm>
            <a:off x="6080760" y="3986784"/>
            <a:ext cx="118872" cy="118872"/>
          </a:xfrm>
          <a:prstGeom prst="ellipse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886200"/>
            <a:ext cx="4626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Mede os cupons utilizados</a:t>
            </a:r>
          </a:p>
        </p:txBody>
      </p:sp>
      <p:sp>
        <p:nvSpPr>
          <p:cNvPr id="17" name="Oval 16"/>
          <p:cNvSpPr/>
          <p:nvPr/>
        </p:nvSpPr>
        <p:spPr>
          <a:xfrm>
            <a:off x="6080760" y="4443984"/>
            <a:ext cx="118872" cy="118872"/>
          </a:xfrm>
          <a:prstGeom prst="ellipse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4343400"/>
            <a:ext cx="4626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Distribui o movimento pela rede</a:t>
            </a:r>
          </a:p>
        </p:txBody>
      </p:sp>
      <p:sp>
        <p:nvSpPr>
          <p:cNvPr id="19" name="Oval 18"/>
          <p:cNvSpPr/>
          <p:nvPr/>
        </p:nvSpPr>
        <p:spPr>
          <a:xfrm>
            <a:off x="6080760" y="4901184"/>
            <a:ext cx="118872" cy="118872"/>
          </a:xfrm>
          <a:prstGeom prst="ellipse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4800600"/>
            <a:ext cx="4626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Cria relacionamento durante 12 meses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9319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0151C"/>
                </a:solidFill>
                <a:latin typeface="Trebuchet MS"/>
              </a:rPr>
              <a:t>O benefício é progressivo pelo número de empresas diferentes visitadas, não pelo valor gasto.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669280"/>
            <a:ext cx="10607040" cy="685800"/>
          </a:xfrm>
          <a:prstGeom prst="roundRect">
            <a:avLst>
              <a:gd name="adj" fmla="val 10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97280" y="5820156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Empresas que competem também podem colaborar.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COMO RESOLVE E COMO SERÁ TESTADO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Primeiro validamos.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Depois desenvolvemos.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029200" cy="82296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0151C"/>
                </a:solidFill>
                <a:latin typeface="Trebuchet MS"/>
              </a:rPr>
              <a:t>Fase 1 — piloto de R$ 0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3099815"/>
            <a:ext cx="118872" cy="118872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2999232"/>
            <a:ext cx="416966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Selecionar 3 a 5 empresas parceiras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3584447"/>
            <a:ext cx="118872" cy="118872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3483863"/>
            <a:ext cx="416966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Oferecer 15% de desconto para moradores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069080"/>
            <a:ext cx="118872" cy="118872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3968496"/>
            <a:ext cx="416966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Usar cartelas impressas, QR Code estático ou WhatsApp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4553712"/>
            <a:ext cx="118872" cy="118872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08176" y="4453128"/>
            <a:ext cx="416966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Testar durante duas semanas na baixa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5038344"/>
            <a:ext cx="118872" cy="118872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8176" y="4937760"/>
            <a:ext cx="416966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Comparar com períodos anteriores e lojas semelhantes</a:t>
            </a:r>
          </a:p>
        </p:txBody>
      </p:sp>
      <p:pic>
        <p:nvPicPr>
          <p:cNvPr id="19" name="Sou+Olimpia-demo-pitc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63640" y="2286000"/>
            <a:ext cx="5120640" cy="3291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563270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8A939E"/>
                </a:solidFill>
                <a:latin typeface="Trebuchet MS"/>
              </a:rPr>
              <a:t>A mecânica já rodando — 30 s, sem áudio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943600"/>
            <a:ext cx="10607040" cy="658368"/>
          </a:xfrm>
          <a:prstGeom prst="roundRect">
            <a:avLst>
              <a:gd name="adj" fmla="val 10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97280" y="60807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Trebuchet MS"/>
              </a:rPr>
              <a:t>Testar a mecânica do cupom sem custo de desenvolvimento.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Os próximos 30 dias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92440" y="2240280"/>
            <a:ext cx="32918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qr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2514600"/>
            <a:ext cx="2240280" cy="2240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75320" y="4956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0151C"/>
                </a:solidFill>
                <a:latin typeface="Trebuchet MS"/>
              </a:rPr>
              <a:t>Documentação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54132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939E"/>
                </a:solidFill>
                <a:latin typeface="Trebuchet MS"/>
              </a:rPr>
              <a:t>qr.link/71a3fR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40280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2340864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72868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3172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Selecionar de 3 a 5 empresas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70632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2871216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03220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86207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Definir a hipótese e o critério de sucesso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300984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0120" y="3401568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43357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92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Criar os cupons físicos ou digitais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31336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60120" y="3931920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92277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Executar o piloto de duas semanas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361688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60120" y="4462272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94276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5312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Medir o movimento adicional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92040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60120" y="4992624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24628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9834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Ouvir empresas e moradores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422392"/>
            <a:ext cx="7040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60120" y="5522976"/>
            <a:ext cx="256032" cy="256032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554980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Trebuchet MS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51383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151C"/>
                </a:solidFill>
                <a:latin typeface="Trebuchet MS"/>
              </a:rPr>
              <a:t>Definir as regras do MVP do Sou+Olímpia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6089904"/>
            <a:ext cx="10607040" cy="777240"/>
          </a:xfrm>
          <a:prstGeom prst="roundRect">
            <a:avLst>
              <a:gd name="adj" fmla="val 10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97280" y="62865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“Menos promessa, mais medição: empresas mais fortes durante todo o ano.”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