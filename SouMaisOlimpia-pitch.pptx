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0E6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051560"/>
            <a:ext cx="4447642" cy="17373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14400" y="3063240"/>
            <a:ext cx="96012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4000" b="1">
                <a:solidFill>
                  <a:srgbClr val="10151C"/>
                </a:solidFill>
                <a:latin typeface="Trebuchet MS"/>
              </a:rPr>
              <a:t>Rede de confiança para os</a:t>
            </a:r>
          </a:p>
          <a:p>
            <a:pPr algn="l">
              <a:lnSpc>
                <a:spcPct val="102000"/>
              </a:lnSpc>
            </a:pPr>
            <a:r>
              <a:rPr sz="4000" b="1">
                <a:solidFill>
                  <a:srgbClr val="10151C"/>
                </a:solidFill>
                <a:latin typeface="Trebuchet MS"/>
              </a:rPr>
              <a:t>negócios de Olímpia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434840"/>
            <a:ext cx="87782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700" b="0">
                <a:solidFill>
                  <a:srgbClr val="49535F"/>
                </a:solidFill>
                <a:latin typeface="Trebuchet MS"/>
              </a:rPr>
              <a:t>Uma camada que permite pequenos negócios provarem quem são e</a:t>
            </a:r>
          </a:p>
          <a:p>
            <a:pPr algn="l">
              <a:lnSpc>
                <a:spcPct val="130000"/>
              </a:lnSpc>
            </a:pPr>
            <a:r>
              <a:rPr sz="1700" b="0">
                <a:solidFill>
                  <a:srgbClr val="49535F"/>
                </a:solidFill>
                <a:latin typeface="Trebuchet MS"/>
              </a:rPr>
              <a:t>verificarem uns aos outros — sem planilha e sem grupo de WhatsApp.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5440680"/>
            <a:ext cx="4023360" cy="566928"/>
          </a:xfrm>
          <a:prstGeom prst="roundRect">
            <a:avLst>
              <a:gd name="adj" fmla="val 4000"/>
            </a:avLst>
          </a:prstGeom>
          <a:solidFill>
            <a:srgbClr val="E7F1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1143000" y="5596128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A4C96"/>
                </a:solidFill>
                <a:latin typeface="Trebuchet MS"/>
              </a:rPr>
              <a:t>Desafio 2 · Olímpia Conecta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94960" y="5596128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8A939E"/>
                </a:solidFill>
                <a:latin typeface="Trebuchet MS"/>
              </a:rPr>
              <a:t>Grupo 4  ·  Geise · Bruno · Alan · Naisa · Renan · Alan · Eduardo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502920"/>
            <a:ext cx="10607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0E6FD8"/>
                </a:solidFill>
                <a:latin typeface="Trebuchet MS"/>
              </a:rPr>
              <a:t>O PROBLEMA, MEDIDO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841248"/>
            <a:ext cx="1060704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3400" b="1">
                <a:solidFill>
                  <a:srgbClr val="10151C"/>
                </a:solidFill>
                <a:latin typeface="Trebuchet MS"/>
              </a:rPr>
              <a:t>Olímpia fatura 26% do seu ano</a:t>
            </a:r>
          </a:p>
          <a:p>
            <a:pPr algn="l">
              <a:lnSpc>
                <a:spcPct val="102000"/>
              </a:lnSpc>
            </a:pPr>
            <a:r>
              <a:rPr sz="3400" b="1">
                <a:solidFill>
                  <a:srgbClr val="10151C"/>
                </a:solidFill>
                <a:latin typeface="Trebuchet MS"/>
              </a:rPr>
              <a:t>de serviços em dois meses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719072"/>
            <a:ext cx="1005840" cy="54864"/>
          </a:xfrm>
          <a:prstGeom prst="rect">
            <a:avLst/>
          </a:prstGeom>
          <a:solidFill>
            <a:srgbClr val="0E6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3332181"/>
            <a:ext cx="10607040" cy="13716"/>
          </a:xfrm>
          <a:prstGeom prst="rect">
            <a:avLst/>
          </a:prstGeom>
          <a:solidFill>
            <a:srgbClr val="8A93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921240" y="3057861"/>
            <a:ext cx="14630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8A939E"/>
                </a:solidFill>
                <a:latin typeface="Trebuchet MS"/>
              </a:rPr>
              <a:t>média do ano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41247" y="2536653"/>
            <a:ext cx="755904" cy="2355386"/>
          </a:xfrm>
          <a:prstGeom prst="roundRect">
            <a:avLst>
              <a:gd name="adj" fmla="val 8000"/>
            </a:avLst>
          </a:prstGeom>
          <a:solidFill>
            <a:srgbClr val="0E6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2244045"/>
            <a:ext cx="8839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10151C"/>
                </a:solidFill>
                <a:latin typeface="Trebuchet MS"/>
              </a:rPr>
              <a:t>1,51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4965192"/>
            <a:ext cx="8839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>
                <a:solidFill>
                  <a:srgbClr val="49535F"/>
                </a:solidFill>
                <a:latin typeface="Trebuchet MS"/>
              </a:rPr>
              <a:t>Jan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725168" y="3628554"/>
            <a:ext cx="755904" cy="1263485"/>
          </a:xfrm>
          <a:prstGeom prst="roundRect">
            <a:avLst>
              <a:gd name="adj" fmla="val 8000"/>
            </a:avLst>
          </a:prstGeom>
          <a:solidFill>
            <a:srgbClr val="9EC5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661160" y="3335946"/>
            <a:ext cx="8839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49535F"/>
                </a:solidFill>
                <a:latin typeface="Trebuchet MS"/>
              </a:rPr>
              <a:t>0,81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61160" y="4965192"/>
            <a:ext cx="8839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>
                <a:solidFill>
                  <a:srgbClr val="49535F"/>
                </a:solidFill>
                <a:latin typeface="Trebuchet MS"/>
              </a:rPr>
              <a:t>Fev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609087" y="3644152"/>
            <a:ext cx="755904" cy="1247887"/>
          </a:xfrm>
          <a:prstGeom prst="roundRect">
            <a:avLst>
              <a:gd name="adj" fmla="val 8000"/>
            </a:avLst>
          </a:prstGeom>
          <a:solidFill>
            <a:srgbClr val="9EC5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545080" y="3351544"/>
            <a:ext cx="8839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49535F"/>
                </a:solidFill>
                <a:latin typeface="Trebuchet MS"/>
              </a:rPr>
              <a:t>0,80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545080" y="4965192"/>
            <a:ext cx="8839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>
                <a:solidFill>
                  <a:srgbClr val="49535F"/>
                </a:solidFill>
                <a:latin typeface="Trebuchet MS"/>
              </a:rPr>
              <a:t>Mar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493008" y="3456969"/>
            <a:ext cx="755904" cy="1435070"/>
          </a:xfrm>
          <a:prstGeom prst="roundRect">
            <a:avLst>
              <a:gd name="adj" fmla="val 8000"/>
            </a:avLst>
          </a:prstGeom>
          <a:solidFill>
            <a:srgbClr val="9EC5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429000" y="3164361"/>
            <a:ext cx="8839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49535F"/>
                </a:solidFill>
                <a:latin typeface="Trebuchet MS"/>
              </a:rPr>
              <a:t>0,92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29000" y="4965192"/>
            <a:ext cx="8839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>
                <a:solidFill>
                  <a:srgbClr val="49535F"/>
                </a:solidFill>
                <a:latin typeface="Trebuchet MS"/>
              </a:rPr>
              <a:t>Abr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376928" y="3690948"/>
            <a:ext cx="755904" cy="1201091"/>
          </a:xfrm>
          <a:prstGeom prst="roundRect">
            <a:avLst>
              <a:gd name="adj" fmla="val 8000"/>
            </a:avLst>
          </a:prstGeom>
          <a:solidFill>
            <a:srgbClr val="9EC5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312920" y="3398340"/>
            <a:ext cx="8839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49535F"/>
                </a:solidFill>
                <a:latin typeface="Trebuchet MS"/>
              </a:rPr>
              <a:t>0,77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12920" y="4965192"/>
            <a:ext cx="8839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>
                <a:solidFill>
                  <a:srgbClr val="49535F"/>
                </a:solidFill>
                <a:latin typeface="Trebuchet MS"/>
              </a:rPr>
              <a:t>Mai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260848" y="3675350"/>
            <a:ext cx="755904" cy="1216689"/>
          </a:xfrm>
          <a:prstGeom prst="roundRect">
            <a:avLst>
              <a:gd name="adj" fmla="val 8000"/>
            </a:avLst>
          </a:prstGeom>
          <a:solidFill>
            <a:srgbClr val="9EC5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196839" y="3382742"/>
            <a:ext cx="8839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49535F"/>
                </a:solidFill>
                <a:latin typeface="Trebuchet MS"/>
              </a:rPr>
              <a:t>0,78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196839" y="4965192"/>
            <a:ext cx="8839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>
                <a:solidFill>
                  <a:srgbClr val="49535F"/>
                </a:solidFill>
                <a:latin typeface="Trebuchet MS"/>
              </a:rPr>
              <a:t>Jun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144768" y="2614646"/>
            <a:ext cx="755904" cy="2277393"/>
          </a:xfrm>
          <a:prstGeom prst="roundRect">
            <a:avLst>
              <a:gd name="adj" fmla="val 8000"/>
            </a:avLst>
          </a:prstGeom>
          <a:solidFill>
            <a:srgbClr val="0E6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080759" y="2322038"/>
            <a:ext cx="8839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10151C"/>
                </a:solidFill>
                <a:latin typeface="Trebuchet MS"/>
              </a:rPr>
              <a:t>1,46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080759" y="4965192"/>
            <a:ext cx="8839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>
                <a:solidFill>
                  <a:srgbClr val="49535F"/>
                </a:solidFill>
                <a:latin typeface="Trebuchet MS"/>
              </a:rPr>
              <a:t>Jul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028688" y="3534962"/>
            <a:ext cx="755904" cy="1357077"/>
          </a:xfrm>
          <a:prstGeom prst="roundRect">
            <a:avLst>
              <a:gd name="adj" fmla="val 8000"/>
            </a:avLst>
          </a:prstGeom>
          <a:solidFill>
            <a:srgbClr val="9EC5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964680" y="3242354"/>
            <a:ext cx="8839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49535F"/>
                </a:solidFill>
                <a:latin typeface="Trebuchet MS"/>
              </a:rPr>
              <a:t>0,87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964680" y="4965192"/>
            <a:ext cx="8839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>
                <a:solidFill>
                  <a:srgbClr val="49535F"/>
                </a:solidFill>
                <a:latin typeface="Trebuchet MS"/>
              </a:rPr>
              <a:t>Ago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912608" y="3472568"/>
            <a:ext cx="755904" cy="1419471"/>
          </a:xfrm>
          <a:prstGeom prst="roundRect">
            <a:avLst>
              <a:gd name="adj" fmla="val 8000"/>
            </a:avLst>
          </a:prstGeom>
          <a:solidFill>
            <a:srgbClr val="9EC5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848600" y="3179960"/>
            <a:ext cx="8839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49535F"/>
                </a:solidFill>
                <a:latin typeface="Trebuchet MS"/>
              </a:rPr>
              <a:t>0,91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848600" y="4965192"/>
            <a:ext cx="8839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>
                <a:solidFill>
                  <a:srgbClr val="49535F"/>
                </a:solidFill>
                <a:latin typeface="Trebuchet MS"/>
              </a:rPr>
              <a:t>Set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796528" y="3098202"/>
            <a:ext cx="755904" cy="1793837"/>
          </a:xfrm>
          <a:prstGeom prst="roundRect">
            <a:avLst>
              <a:gd name="adj" fmla="val 8000"/>
            </a:avLst>
          </a:prstGeom>
          <a:solidFill>
            <a:srgbClr val="0E6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732519" y="2805594"/>
            <a:ext cx="8839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10151C"/>
                </a:solidFill>
                <a:latin typeface="Trebuchet MS"/>
              </a:rPr>
              <a:t>1,15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732519" y="4965192"/>
            <a:ext cx="8839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>
                <a:solidFill>
                  <a:srgbClr val="49535F"/>
                </a:solidFill>
                <a:latin typeface="Trebuchet MS"/>
              </a:rPr>
              <a:t>Out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9680448" y="3441371"/>
            <a:ext cx="755904" cy="1450668"/>
          </a:xfrm>
          <a:prstGeom prst="roundRect">
            <a:avLst>
              <a:gd name="adj" fmla="val 8000"/>
            </a:avLst>
          </a:prstGeom>
          <a:solidFill>
            <a:srgbClr val="9EC5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616440" y="3148763"/>
            <a:ext cx="8839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49535F"/>
                </a:solidFill>
                <a:latin typeface="Trebuchet MS"/>
              </a:rPr>
              <a:t>0,93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616440" y="4965192"/>
            <a:ext cx="8839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>
                <a:solidFill>
                  <a:srgbClr val="49535F"/>
                </a:solidFill>
                <a:latin typeface="Trebuchet MS"/>
              </a:rPr>
              <a:t>Nov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10564368" y="3269786"/>
            <a:ext cx="755904" cy="1622253"/>
          </a:xfrm>
          <a:prstGeom prst="roundRect">
            <a:avLst>
              <a:gd name="adj" fmla="val 8000"/>
            </a:avLst>
          </a:prstGeom>
          <a:solidFill>
            <a:srgbClr val="9EC5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0500360" y="2977178"/>
            <a:ext cx="8839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49535F"/>
                </a:solidFill>
                <a:latin typeface="Trebuchet MS"/>
              </a:rPr>
              <a:t>1,04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500360" y="4965192"/>
            <a:ext cx="8839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>
                <a:solidFill>
                  <a:srgbClr val="49535F"/>
                </a:solidFill>
                <a:latin typeface="Trebuchet MS"/>
              </a:rPr>
              <a:t>Dez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77240" y="5349240"/>
            <a:ext cx="106070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>
                <a:solidFill>
                  <a:srgbClr val="49535F"/>
                </a:solidFill>
                <a:latin typeface="Trebuchet MS"/>
              </a:rPr>
              <a:t>Índice sazonal do ISS, 2023–2025, série que nós construímos a partir da API do Tesouro Nacional.</a:t>
            </a:r>
          </a:p>
          <a:p>
            <a:pPr algn="l">
              <a:lnSpc>
                <a:spcPct val="130000"/>
              </a:lnSpc>
            </a:pPr>
            <a:r>
              <a:rPr sz="1400" b="0">
                <a:solidFill>
                  <a:srgbClr val="49535F"/>
                </a:solidFill>
                <a:latin typeface="Trebuchet MS"/>
              </a:rPr>
              <a:t>Janeiro vale 1,96× maio. Oito dos doze meses ficam abaixo da média do próprio ano.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77240" y="6327648"/>
            <a:ext cx="64008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8A939E"/>
                </a:solidFill>
                <a:latin typeface="Trebuchet MS"/>
              </a:rPr>
              <a:t>SOU+OLÍMPIA · GRUPO 4 · IDEATHON OLIMPIALAB 2026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058400" y="6327648"/>
            <a:ext cx="13716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8A939E"/>
                </a:solidFill>
                <a:latin typeface="Trebuchet MS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502920"/>
            <a:ext cx="10607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0E6FD8"/>
                </a:solidFill>
                <a:latin typeface="Trebuchet MS"/>
              </a:rPr>
              <a:t>CINCO PORQUÊS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841248"/>
            <a:ext cx="1060704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3400" b="1">
                <a:solidFill>
                  <a:srgbClr val="10151C"/>
                </a:solidFill>
                <a:latin typeface="Trebuchet MS"/>
              </a:rPr>
              <a:t>O problema não é falta de cliente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719072"/>
            <a:ext cx="1005840" cy="54864"/>
          </a:xfrm>
          <a:prstGeom prst="rect">
            <a:avLst/>
          </a:prstGeom>
          <a:solidFill>
            <a:srgbClr val="0E6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77240" y="2148840"/>
            <a:ext cx="10607040" cy="621792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9525">
            <a:solidFill>
              <a:srgbClr val="D9E0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Oval 6"/>
          <p:cNvSpPr/>
          <p:nvPr/>
        </p:nvSpPr>
        <p:spPr>
          <a:xfrm>
            <a:off x="960120" y="2304288"/>
            <a:ext cx="310896" cy="310896"/>
          </a:xfrm>
          <a:prstGeom prst="ellipse">
            <a:avLst/>
          </a:prstGeom>
          <a:solidFill>
            <a:srgbClr val="0E6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2350008"/>
            <a:ext cx="310896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Trebuchet MS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17320" y="2258568"/>
            <a:ext cx="5120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>
                <a:solidFill>
                  <a:srgbClr val="10151C"/>
                </a:solidFill>
                <a:latin typeface="Trebuchet MS"/>
              </a:rPr>
              <a:t>O faturamento de serviços cai pela metade na baixa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2286000"/>
            <a:ext cx="4617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49535F"/>
                </a:solidFill>
                <a:latin typeface="Trebuchet MS"/>
              </a:rPr>
              <a:t>índice 1,51 em janeiro contra 0,77 em maio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2862072"/>
            <a:ext cx="10607040" cy="621792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9525">
            <a:solidFill>
              <a:srgbClr val="D9E0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Oval 11"/>
          <p:cNvSpPr/>
          <p:nvPr/>
        </p:nvSpPr>
        <p:spPr>
          <a:xfrm>
            <a:off x="960120" y="3017520"/>
            <a:ext cx="310896" cy="310896"/>
          </a:xfrm>
          <a:prstGeom prst="ellipse">
            <a:avLst/>
          </a:prstGeom>
          <a:solidFill>
            <a:srgbClr val="0E6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3063240"/>
            <a:ext cx="310896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Trebuchet MS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17320" y="2971800"/>
            <a:ext cx="5120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>
                <a:solidFill>
                  <a:srgbClr val="10151C"/>
                </a:solidFill>
                <a:latin typeface="Trebuchet MS"/>
              </a:rPr>
              <a:t>A demanda é turística e só vem nas férias escolares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0" y="2999232"/>
            <a:ext cx="4617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49535F"/>
                </a:solidFill>
                <a:latin typeface="Trebuchet MS"/>
              </a:rPr>
              <a:t>feriado não resolve: Carnaval tem 80,6% de ocupação e cai num mês de 0,81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7240" y="3575304"/>
            <a:ext cx="10607040" cy="621792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9525">
            <a:solidFill>
              <a:srgbClr val="D9E0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Oval 16"/>
          <p:cNvSpPr/>
          <p:nvPr/>
        </p:nvSpPr>
        <p:spPr>
          <a:xfrm>
            <a:off x="960120" y="3730752"/>
            <a:ext cx="310896" cy="310896"/>
          </a:xfrm>
          <a:prstGeom prst="ellipse">
            <a:avLst/>
          </a:prstGeom>
          <a:solidFill>
            <a:srgbClr val="0E6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0120" y="3776472"/>
            <a:ext cx="310896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Trebuchet MS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17320" y="3685032"/>
            <a:ext cx="5120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>
                <a:solidFill>
                  <a:srgbClr val="10151C"/>
                </a:solidFill>
                <a:latin typeface="Trebuchet MS"/>
              </a:rPr>
              <a:t>O morador sozinho não cobre o buraco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0" y="3712464"/>
            <a:ext cx="4617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49535F"/>
                </a:solidFill>
                <a:latin typeface="Trebuchet MS"/>
              </a:rPr>
              <a:t>seria preciso R$ 3.278 a 8.195 a mais por domicílio por mês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77240" y="4288536"/>
            <a:ext cx="10607040" cy="621792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9525">
            <a:solidFill>
              <a:srgbClr val="D9E0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Oval 21"/>
          <p:cNvSpPr/>
          <p:nvPr/>
        </p:nvSpPr>
        <p:spPr>
          <a:xfrm>
            <a:off x="960120" y="4443984"/>
            <a:ext cx="310896" cy="310896"/>
          </a:xfrm>
          <a:prstGeom prst="ellipse">
            <a:avLst/>
          </a:prstGeom>
          <a:solidFill>
            <a:srgbClr val="0E6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60120" y="4489704"/>
            <a:ext cx="310896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Trebuchet MS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417320" y="4398264"/>
            <a:ext cx="5120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>
                <a:solidFill>
                  <a:srgbClr val="10151C"/>
                </a:solidFill>
                <a:latin typeface="Trebuchet MS"/>
              </a:rPr>
              <a:t>A saída é ação coletiva entre negócios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83680" y="4425696"/>
            <a:ext cx="4617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49535F"/>
                </a:solidFill>
                <a:latin typeface="Trebuchet MS"/>
              </a:rPr>
              <a:t>campanha que manda o cliente de uma loja para outra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77240" y="5001768"/>
            <a:ext cx="10607040" cy="621792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9525">
            <a:solidFill>
              <a:srgbClr val="D9E0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Oval 26"/>
          <p:cNvSpPr/>
          <p:nvPr/>
        </p:nvSpPr>
        <p:spPr>
          <a:xfrm>
            <a:off x="960120" y="5157216"/>
            <a:ext cx="310896" cy="310896"/>
          </a:xfrm>
          <a:prstGeom prst="ellipse">
            <a:avLst/>
          </a:prstGeom>
          <a:solidFill>
            <a:srgbClr val="0E6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60120" y="5202936"/>
            <a:ext cx="310896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Trebuchet MS"/>
              </a:rPr>
              <a:t>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417320" y="5111496"/>
            <a:ext cx="5120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>
                <a:solidFill>
                  <a:srgbClr val="10151C"/>
                </a:solidFill>
                <a:latin typeface="Trebuchet MS"/>
              </a:rPr>
              <a:t>Mas parceria hoje roda em planilha e WhatsApp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83680" y="5138928"/>
            <a:ext cx="4617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49535F"/>
                </a:solidFill>
                <a:latin typeface="Trebuchet MS"/>
              </a:rPr>
              <a:t>ninguém consegue verificar o que o outro afirma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77240" y="5824728"/>
            <a:ext cx="10607040" cy="713232"/>
          </a:xfrm>
          <a:prstGeom prst="roundRect">
            <a:avLst>
              <a:gd name="adj" fmla="val 16000"/>
            </a:avLst>
          </a:prstGeom>
          <a:solidFill>
            <a:srgbClr val="0E6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1051560" y="5989320"/>
            <a:ext cx="1005840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>
                <a:solidFill>
                  <a:srgbClr val="FFFFFF"/>
                </a:solidFill>
                <a:latin typeface="Trebuchet MS"/>
              </a:rPr>
              <a:t>Causa raiz: falta uma camada de confiança entre os negócios locais. É exatamente o Desafio 2.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77240" y="6327648"/>
            <a:ext cx="64008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8A939E"/>
                </a:solidFill>
                <a:latin typeface="Trebuchet MS"/>
              </a:rPr>
              <a:t>SOU+OLÍMPIA · GRUPO 4 · IDEATHON OLIMPIALAB 2026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058400" y="6327648"/>
            <a:ext cx="13716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8A939E"/>
                </a:solidFill>
                <a:latin typeface="Trebuchet MS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502920"/>
            <a:ext cx="10607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0E6FD8"/>
                </a:solidFill>
                <a:latin typeface="Trebuchet MS"/>
              </a:rPr>
              <a:t>A SOLUÇÃO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841248"/>
            <a:ext cx="1060704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3400" b="1">
                <a:solidFill>
                  <a:srgbClr val="10151C"/>
                </a:solidFill>
                <a:latin typeface="Trebuchet MS"/>
              </a:rPr>
              <a:t>Sou+Olímpia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719072"/>
            <a:ext cx="1005840" cy="54864"/>
          </a:xfrm>
          <a:prstGeom prst="rect">
            <a:avLst/>
          </a:prstGeom>
          <a:solidFill>
            <a:srgbClr val="0E6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938528"/>
            <a:ext cx="1024128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0">
                <a:solidFill>
                  <a:srgbClr val="49535F"/>
                </a:solidFill>
                <a:latin typeface="Trebuchet MS"/>
              </a:rPr>
              <a:t>Uma camada de interoperabilidade entre os negócios da cidade. Cada negócio recebe uma credencial verificável; cada morador, a sua. Qualquer negócio emite um registro assinado — e qualquer outro verifica, sozinho, sem consultar ninguém.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3200400"/>
            <a:ext cx="3337560" cy="2148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E0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777240" y="3200400"/>
            <a:ext cx="3337560" cy="91440"/>
          </a:xfrm>
          <a:prstGeom prst="rect">
            <a:avLst/>
          </a:prstGeom>
          <a:solidFill>
            <a:srgbClr val="0E6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3520440"/>
            <a:ext cx="2788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10151C"/>
                </a:solidFill>
                <a:latin typeface="Trebuchet MS"/>
              </a:rPr>
              <a:t>Identidade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4023360"/>
            <a:ext cx="278892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>
                <a:solidFill>
                  <a:srgbClr val="49535F"/>
                </a:solidFill>
                <a:latin typeface="Trebuchet MS"/>
              </a:rPr>
              <a:t>A prefeitura assina a credencial que diz que o negócio existe, é de Olímpia e está na rede.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20" y="3200400"/>
            <a:ext cx="3337560" cy="2148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E0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ectangle 11"/>
          <p:cNvSpPr/>
          <p:nvPr/>
        </p:nvSpPr>
        <p:spPr>
          <a:xfrm>
            <a:off x="4389120" y="3200400"/>
            <a:ext cx="3337560" cy="91440"/>
          </a:xfrm>
          <a:prstGeom prst="rect">
            <a:avLst/>
          </a:prstGeom>
          <a:solidFill>
            <a:srgbClr val="1280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63440" y="3520440"/>
            <a:ext cx="2788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10151C"/>
                </a:solidFill>
                <a:latin typeface="Trebuchet MS"/>
              </a:rPr>
              <a:t>Verificação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63440" y="4023360"/>
            <a:ext cx="278892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>
                <a:solidFill>
                  <a:srgbClr val="49535F"/>
                </a:solidFill>
                <a:latin typeface="Trebuchet MS"/>
              </a:rPr>
              <a:t>Uma loja valida o registro de outra usando só a chave pública da rede. Offline.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01000" y="3200400"/>
            <a:ext cx="3337560" cy="2148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E0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ectangle 15"/>
          <p:cNvSpPr/>
          <p:nvPr/>
        </p:nvSpPr>
        <p:spPr>
          <a:xfrm>
            <a:off x="8001000" y="3200400"/>
            <a:ext cx="3337560" cy="91440"/>
          </a:xfrm>
          <a:prstGeom prst="rect">
            <a:avLst/>
          </a:prstGeom>
          <a:solidFill>
            <a:srgbClr val="E07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75320" y="3520440"/>
            <a:ext cx="2788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10151C"/>
                </a:solidFill>
                <a:latin typeface="Trebuchet MS"/>
              </a:rPr>
              <a:t>Circulação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75320" y="4023360"/>
            <a:ext cx="278892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>
                <a:solidFill>
                  <a:srgbClr val="49535F"/>
                </a:solidFill>
                <a:latin typeface="Trebuchet MS"/>
              </a:rPr>
              <a:t>O primeiro caso de uso: cartela de carimbos que premia visitar lojas diferentes.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6327648"/>
            <a:ext cx="64008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8A939E"/>
                </a:solidFill>
                <a:latin typeface="Trebuchet MS"/>
              </a:rPr>
              <a:t>SOU+OLÍMPIA · GRUPO 4 · IDEATHON OLIMPIALAB 2026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58400" y="6327648"/>
            <a:ext cx="13716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8A939E"/>
                </a:solidFill>
                <a:latin typeface="Trebuchet MS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502920"/>
            <a:ext cx="10607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0E6FD8"/>
                </a:solidFill>
                <a:latin typeface="Trebuchet MS"/>
              </a:rPr>
              <a:t>COMO FUNCIONA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841248"/>
            <a:ext cx="1060704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3400" b="1">
                <a:solidFill>
                  <a:srgbClr val="10151C"/>
                </a:solidFill>
                <a:latin typeface="Trebuchet MS"/>
              </a:rPr>
              <a:t>A confiança viaja junto com o dado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719072"/>
            <a:ext cx="1005840" cy="54864"/>
          </a:xfrm>
          <a:prstGeom prst="rect">
            <a:avLst/>
          </a:prstGeom>
          <a:solidFill>
            <a:srgbClr val="0E6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77240" y="2377440"/>
            <a:ext cx="2377440" cy="1920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E0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005840" y="2606040"/>
            <a:ext cx="1920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D62718"/>
                </a:solidFill>
                <a:latin typeface="Trebuchet MS"/>
              </a:rPr>
              <a:t>LOJA 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971800"/>
            <a:ext cx="196596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 b="0">
                <a:solidFill>
                  <a:srgbClr val="10151C"/>
                </a:solidFill>
                <a:latin typeface="Trebuchet MS"/>
              </a:rPr>
              <a:t>Emite um carimbo</a:t>
            </a:r>
          </a:p>
          <a:p>
            <a:pPr algn="l">
              <a:lnSpc>
                <a:spcPct val="125000"/>
              </a:lnSpc>
            </a:pPr>
            <a:r>
              <a:rPr sz="1350" b="0">
                <a:solidFill>
                  <a:srgbClr val="10151C"/>
                </a:solidFill>
                <a:latin typeface="Trebuchet MS"/>
              </a:rPr>
              <a:t>assinado com a</a:t>
            </a:r>
          </a:p>
          <a:p>
            <a:pPr algn="l">
              <a:lnSpc>
                <a:spcPct val="125000"/>
              </a:lnSpc>
            </a:pPr>
            <a:r>
              <a:rPr sz="1350" b="0">
                <a:solidFill>
                  <a:srgbClr val="10151C"/>
                </a:solidFill>
                <a:latin typeface="Trebuchet MS"/>
              </a:rPr>
              <a:t>própria chave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172968" y="3108960"/>
            <a:ext cx="3200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00" b="1">
                <a:solidFill>
                  <a:srgbClr val="8A939E"/>
                </a:solidFill>
                <a:latin typeface="Trebuchet MS"/>
              </a:rP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502152" y="2377440"/>
            <a:ext cx="2377440" cy="1920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E0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3730752" y="2606040"/>
            <a:ext cx="1920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0E6FD8"/>
                </a:solidFill>
                <a:latin typeface="Trebuchet MS"/>
              </a:rPr>
              <a:t>MORADOR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30752" y="2971800"/>
            <a:ext cx="196596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 b="0">
                <a:solidFill>
                  <a:srgbClr val="10151C"/>
                </a:solidFill>
                <a:latin typeface="Trebuchet MS"/>
              </a:rPr>
              <a:t>Guarda o carimbo</a:t>
            </a:r>
          </a:p>
          <a:p>
            <a:pPr algn="l">
              <a:lnSpc>
                <a:spcPct val="125000"/>
              </a:lnSpc>
            </a:pPr>
            <a:r>
              <a:rPr sz="1350" b="0">
                <a:solidFill>
                  <a:srgbClr val="10151C"/>
                </a:solidFill>
                <a:latin typeface="Trebuchet MS"/>
              </a:rPr>
              <a:t>na carteira do</a:t>
            </a:r>
          </a:p>
          <a:p>
            <a:pPr algn="l">
              <a:lnSpc>
                <a:spcPct val="125000"/>
              </a:lnSpc>
            </a:pPr>
            <a:r>
              <a:rPr sz="1350" b="0">
                <a:solidFill>
                  <a:srgbClr val="10151C"/>
                </a:solidFill>
                <a:latin typeface="Trebuchet MS"/>
              </a:rPr>
              <a:t>seu aparelho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97880" y="3108960"/>
            <a:ext cx="3200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00" b="1">
                <a:solidFill>
                  <a:srgbClr val="8A939E"/>
                </a:solidFill>
                <a:latin typeface="Trebuchet MS"/>
              </a:rP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27064" y="2377440"/>
            <a:ext cx="2377440" cy="1920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E0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6455664" y="2606040"/>
            <a:ext cx="1920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28040"/>
                </a:solidFill>
                <a:latin typeface="Trebuchet MS"/>
              </a:rPr>
              <a:t>LOJA B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55664" y="2971800"/>
            <a:ext cx="196596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 b="0">
                <a:solidFill>
                  <a:srgbClr val="10151C"/>
                </a:solidFill>
                <a:latin typeface="Trebuchet MS"/>
              </a:rPr>
              <a:t>Verifica o carimbo</a:t>
            </a:r>
          </a:p>
          <a:p>
            <a:pPr algn="l">
              <a:lnSpc>
                <a:spcPct val="125000"/>
              </a:lnSpc>
            </a:pPr>
            <a:r>
              <a:rPr sz="1350" b="0">
                <a:solidFill>
                  <a:srgbClr val="10151C"/>
                </a:solidFill>
                <a:latin typeface="Trebuchet MS"/>
              </a:rPr>
              <a:t>da Loja A sozinha,</a:t>
            </a:r>
          </a:p>
          <a:p>
            <a:pPr algn="l">
              <a:lnSpc>
                <a:spcPct val="125000"/>
              </a:lnSpc>
            </a:pPr>
            <a:r>
              <a:rPr sz="1350" b="0">
                <a:solidFill>
                  <a:srgbClr val="10151C"/>
                </a:solidFill>
                <a:latin typeface="Trebuchet MS"/>
              </a:rPr>
              <a:t>sem consultar a Loja 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22792" y="3108960"/>
            <a:ext cx="3200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00" b="1">
                <a:solidFill>
                  <a:srgbClr val="8A939E"/>
                </a:solidFill>
                <a:latin typeface="Trebuchet MS"/>
              </a:rP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951976" y="2377440"/>
            <a:ext cx="2377440" cy="1920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E0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180576" y="2606040"/>
            <a:ext cx="1920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E07A00"/>
                </a:solidFill>
                <a:latin typeface="Trebuchet MS"/>
              </a:rPr>
              <a:t>REDE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80576" y="2971800"/>
            <a:ext cx="196596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 b="0">
                <a:solidFill>
                  <a:srgbClr val="10151C"/>
                </a:solidFill>
                <a:latin typeface="Trebuchet MS"/>
              </a:rPr>
              <a:t>Fecha a cartela,</a:t>
            </a:r>
          </a:p>
          <a:p>
            <a:pPr algn="l">
              <a:lnSpc>
                <a:spcPct val="125000"/>
              </a:lnSpc>
            </a:pPr>
            <a:r>
              <a:rPr sz="1350" b="0">
                <a:solidFill>
                  <a:srgbClr val="10151C"/>
                </a:solidFill>
                <a:latin typeface="Trebuchet MS"/>
              </a:rPr>
              <a:t>emite o vale e</a:t>
            </a:r>
          </a:p>
          <a:p>
            <a:pPr algn="l">
              <a:lnSpc>
                <a:spcPct val="125000"/>
              </a:lnSpc>
            </a:pPr>
            <a:r>
              <a:rPr sz="1350" b="0">
                <a:solidFill>
                  <a:srgbClr val="10151C"/>
                </a:solidFill>
                <a:latin typeface="Trebuchet MS"/>
              </a:rPr>
              <a:t>impede resgate duplo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77240" y="4572000"/>
            <a:ext cx="10607040" cy="1234440"/>
          </a:xfrm>
          <a:prstGeom prst="roundRect">
            <a:avLst>
              <a:gd name="adj" fmla="val 8000"/>
            </a:avLst>
          </a:prstGeom>
          <a:solidFill>
            <a:srgbClr val="E7F1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1097280" y="4800600"/>
            <a:ext cx="100584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>
                <a:solidFill>
                  <a:srgbClr val="0A4C96"/>
                </a:solidFill>
                <a:latin typeface="Trebuchet MS"/>
              </a:rPr>
              <a:t>O ponto está no terceiro quadro: a Loja B confia num registro emitido pela Loja A sem precisar confiar na Loja A,</a:t>
            </a:r>
          </a:p>
          <a:p>
            <a:pPr algn="l">
              <a:lnSpc>
                <a:spcPct val="130000"/>
              </a:lnSpc>
            </a:pPr>
            <a:r>
              <a:rPr sz="1500" b="0">
                <a:solidFill>
                  <a:srgbClr val="0A4C96"/>
                </a:solidFill>
                <a:latin typeface="Trebuchet MS"/>
              </a:rPr>
              <a:t>e sem que exista uma planilha central que alguém precise manter. É isso que substitui o grupo de WhatsApp.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" y="6327648"/>
            <a:ext cx="64008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8A939E"/>
                </a:solidFill>
                <a:latin typeface="Trebuchet MS"/>
              </a:rPr>
              <a:t>SOU+OLÍMPIA · GRUPO 4 · IDEATHON OLIMPIALAB 2026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058400" y="6327648"/>
            <a:ext cx="13716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8A939E"/>
                </a:solidFill>
                <a:latin typeface="Trebuchet MS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502920"/>
            <a:ext cx="10607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0E6FD8"/>
                </a:solidFill>
                <a:latin typeface="Trebuchet MS"/>
              </a:rPr>
              <a:t>POR QUE NÃO É MAIS UM CASHBACK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841248"/>
            <a:ext cx="1060704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3400" b="1">
                <a:solidFill>
                  <a:srgbClr val="10151C"/>
                </a:solidFill>
                <a:latin typeface="Trebuchet MS"/>
              </a:rPr>
              <a:t>A recompensa cresce com o número</a:t>
            </a:r>
          </a:p>
          <a:p>
            <a:pPr algn="l">
              <a:lnSpc>
                <a:spcPct val="102000"/>
              </a:lnSpc>
            </a:pPr>
            <a:r>
              <a:rPr sz="3400" b="1">
                <a:solidFill>
                  <a:srgbClr val="10151C"/>
                </a:solidFill>
                <a:latin typeface="Trebuchet MS"/>
              </a:rPr>
              <a:t>de lojas, não com o valor gasto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719072"/>
            <a:ext cx="1005840" cy="54864"/>
          </a:xfrm>
          <a:prstGeom prst="rect">
            <a:avLst/>
          </a:prstGeom>
          <a:solidFill>
            <a:srgbClr val="0E6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77240" y="2834640"/>
            <a:ext cx="5120640" cy="2377440"/>
          </a:xfrm>
          <a:prstGeom prst="roundRect">
            <a:avLst>
              <a:gd name="adj" fmla="val 6000"/>
            </a:avLst>
          </a:prstGeom>
          <a:solidFill>
            <a:srgbClr val="FBECEC"/>
          </a:solidFill>
          <a:ln w="12700">
            <a:solidFill>
              <a:srgbClr val="E8C6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097280" y="3063240"/>
            <a:ext cx="4572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D62718"/>
                </a:solidFill>
                <a:latin typeface="Trebuchet MS"/>
              </a:rPr>
              <a:t>Desconto linear é soma zero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3520440"/>
            <a:ext cx="4526280" cy="1554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0">
                <a:solidFill>
                  <a:srgbClr val="49535F"/>
                </a:solidFill>
                <a:latin typeface="Trebuchet MS"/>
              </a:rPr>
              <a:t>Se todas as lojas dão 10%, ninguém ganha participação. Redistribui o mesmo cliente entre concorrentes e a cidade inteira vende mais barato no mês em que já tem menos caixa.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2834640"/>
            <a:ext cx="5120640" cy="2377440"/>
          </a:xfrm>
          <a:prstGeom prst="roundRect">
            <a:avLst>
              <a:gd name="adj" fmla="val 6000"/>
            </a:avLst>
          </a:prstGeom>
          <a:solidFill>
            <a:srgbClr val="EDF7F0"/>
          </a:solidFill>
          <a:ln w="12700">
            <a:solidFill>
              <a:srgbClr val="B8DD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6583680" y="3063240"/>
            <a:ext cx="4572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128040"/>
                </a:solidFill>
                <a:latin typeface="Trebuchet MS"/>
              </a:rPr>
              <a:t>Progressão por lojas é circulação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0" y="3520440"/>
            <a:ext cx="4526280" cy="1554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0">
                <a:solidFill>
                  <a:srgbClr val="49535F"/>
                </a:solidFill>
                <a:latin typeface="Trebuchet MS"/>
              </a:rPr>
              <a:t>Aumenta o número de estabelecimentos por cliente em vez de redistribuir o mesmo cliente. E é a única coisa que uma placa de 10% na porta não consegue fazer.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5532120"/>
            <a:ext cx="106070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>
                <a:solidFill>
                  <a:srgbClr val="49535F"/>
                </a:solidFill>
                <a:latin typeface="Trebuchet MS"/>
              </a:rPr>
              <a:t>O vale é em reais, não em percentual: R$ 30 é legível para quem tem mediana de admissão de R$ 2.100.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6327648"/>
            <a:ext cx="64008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8A939E"/>
                </a:solidFill>
                <a:latin typeface="Trebuchet MS"/>
              </a:rPr>
              <a:t>SOU+OLÍMPIA · GRUPO 4 · IDEATHON OLIMPIALAB 2026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0" y="6327648"/>
            <a:ext cx="13716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8A939E"/>
                </a:solidFill>
                <a:latin typeface="Trebuchet MS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502920"/>
            <a:ext cx="10607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0E6FD8"/>
                </a:solidFill>
                <a:latin typeface="Trebuchet MS"/>
              </a:rPr>
              <a:t>SEGURANÇA DE DADOS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841248"/>
            <a:ext cx="1060704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3400" b="1">
                <a:solidFill>
                  <a:srgbClr val="10151C"/>
                </a:solidFill>
                <a:latin typeface="Trebuchet MS"/>
              </a:rPr>
              <a:t>A rede funciona sabendo</a:t>
            </a:r>
          </a:p>
          <a:p>
            <a:pPr algn="l">
              <a:lnSpc>
                <a:spcPct val="102000"/>
              </a:lnSpc>
            </a:pPr>
            <a:r>
              <a:rPr sz="3400" b="1">
                <a:solidFill>
                  <a:srgbClr val="10151C"/>
                </a:solidFill>
                <a:latin typeface="Trebuchet MS"/>
              </a:rPr>
              <a:t>o mínimo sobre as pessoas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719072"/>
            <a:ext cx="1005840" cy="54864"/>
          </a:xfrm>
          <a:prstGeom prst="rect">
            <a:avLst/>
          </a:prstGeom>
          <a:solidFill>
            <a:srgbClr val="0E6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77240" y="2240280"/>
            <a:ext cx="10607040" cy="512064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D9E0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051560" y="2368296"/>
            <a:ext cx="4206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>
                <a:solidFill>
                  <a:srgbClr val="10151C"/>
                </a:solidFill>
                <a:latin typeface="Trebuchet MS"/>
              </a:rPr>
              <a:t>Nome do morador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94960" y="2368296"/>
            <a:ext cx="5760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>
                <a:solidFill>
                  <a:srgbClr val="128040"/>
                </a:solidFill>
                <a:latin typeface="Trebuchet MS"/>
              </a:rPr>
              <a:t>não guardamos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2843784"/>
            <a:ext cx="10607040" cy="512064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D9E0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1051560" y="2971800"/>
            <a:ext cx="4206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>
                <a:solidFill>
                  <a:srgbClr val="10151C"/>
                </a:solidFill>
                <a:latin typeface="Trebuchet MS"/>
              </a:rPr>
              <a:t>CPF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94960" y="2971800"/>
            <a:ext cx="5760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>
                <a:solidFill>
                  <a:srgbClr val="128040"/>
                </a:solidFill>
                <a:latin typeface="Trebuchet MS"/>
              </a:rPr>
              <a:t>não guardamos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" y="3447288"/>
            <a:ext cx="10607040" cy="512064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D9E0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1051560" y="3575304"/>
            <a:ext cx="4206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>
                <a:solidFill>
                  <a:srgbClr val="10151C"/>
                </a:solidFill>
                <a:latin typeface="Trebuchet MS"/>
              </a:rPr>
              <a:t>Valor exato da compra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94960" y="3575304"/>
            <a:ext cx="5760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>
                <a:solidFill>
                  <a:srgbClr val="128040"/>
                </a:solidFill>
                <a:latin typeface="Trebuchet MS"/>
              </a:rPr>
              <a:t>não guardamos — só a faixa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" y="4050792"/>
            <a:ext cx="10607040" cy="512064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D9E0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1051560" y="4178808"/>
            <a:ext cx="4206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>
                <a:solidFill>
                  <a:srgbClr val="10151C"/>
                </a:solidFill>
                <a:latin typeface="Trebuchet MS"/>
              </a:rPr>
              <a:t>O que foi comprado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94960" y="4178808"/>
            <a:ext cx="5760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>
                <a:solidFill>
                  <a:srgbClr val="128040"/>
                </a:solidFill>
                <a:latin typeface="Trebuchet MS"/>
              </a:rPr>
              <a:t>não guardamos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77240" y="4654296"/>
            <a:ext cx="10607040" cy="512064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D9E0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1051560" y="4782312"/>
            <a:ext cx="4206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>
                <a:solidFill>
                  <a:srgbClr val="10151C"/>
                </a:solidFill>
                <a:latin typeface="Trebuchet MS"/>
              </a:rPr>
              <a:t>Loja, data e faixa de valor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394960" y="4782312"/>
            <a:ext cx="5760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>
                <a:solidFill>
                  <a:srgbClr val="49535F"/>
                </a:solidFill>
                <a:latin typeface="Trebuchet MS"/>
              </a:rPr>
              <a:t>guardamos — é o que define o carimbo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77240" y="5257800"/>
            <a:ext cx="10607040" cy="512064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D9E0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1051560" y="5385816"/>
            <a:ext cx="4206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>
                <a:solidFill>
                  <a:srgbClr val="10151C"/>
                </a:solidFill>
                <a:latin typeface="Trebuchet MS"/>
              </a:rPr>
              <a:t>Identificador aleatório da carteira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94960" y="5385816"/>
            <a:ext cx="5760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>
                <a:solidFill>
                  <a:srgbClr val="49535F"/>
                </a:solidFill>
                <a:latin typeface="Trebuchet MS"/>
              </a:rPr>
              <a:t>guardamos — descartável, o morador gera outro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" y="5952744"/>
            <a:ext cx="106070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>
                <a:solidFill>
                  <a:srgbClr val="49535F"/>
                </a:solidFill>
                <a:latin typeface="Trebuchet MS"/>
              </a:rPr>
              <a:t>Assinatura ECDSA P-256 gerada no próprio navegador · verificação offline · credencial revogável a qualquer momento</a:t>
            </a:r>
          </a:p>
          <a:p>
            <a:pPr algn="l">
              <a:lnSpc>
                <a:spcPct val="130000"/>
              </a:lnSpc>
            </a:pPr>
            <a:r>
              <a:rPr sz="1400" b="0">
                <a:solidFill>
                  <a:srgbClr val="49535F"/>
                </a:solidFill>
                <a:latin typeface="Trebuchet MS"/>
              </a:rPr>
              <a:t>· vale com número de série que só pode ser resgatado uma vez.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7240" y="6327648"/>
            <a:ext cx="64008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8A939E"/>
                </a:solidFill>
                <a:latin typeface="Trebuchet MS"/>
              </a:rPr>
              <a:t>SOU+OLÍMPIA · GRUPO 4 · IDEATHON OLIMPIALAB 2026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0" y="6327648"/>
            <a:ext cx="13716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8A939E"/>
                </a:solidFill>
                <a:latin typeface="Trebuchet MS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502920"/>
            <a:ext cx="10607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0E6FD8"/>
                </a:solidFill>
                <a:latin typeface="Trebuchet MS"/>
              </a:rPr>
              <a:t>ACESSIBILIDADE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841248"/>
            <a:ext cx="1060704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3400" b="1">
                <a:solidFill>
                  <a:srgbClr val="10151C"/>
                </a:solidFill>
                <a:latin typeface="Trebuchet MS"/>
              </a:rPr>
              <a:t>Feito para ser usado no balcão,</a:t>
            </a:r>
          </a:p>
          <a:p>
            <a:pPr algn="l">
              <a:lnSpc>
                <a:spcPct val="102000"/>
              </a:lnSpc>
            </a:pPr>
            <a:r>
              <a:rPr sz="3400" b="1">
                <a:solidFill>
                  <a:srgbClr val="10151C"/>
                </a:solidFill>
                <a:latin typeface="Trebuchet MS"/>
              </a:rPr>
              <a:t>por qualquer pessoa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719072"/>
            <a:ext cx="1005840" cy="54864"/>
          </a:xfrm>
          <a:prstGeom prst="rect">
            <a:avLst/>
          </a:prstGeom>
          <a:solidFill>
            <a:srgbClr val="0E6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777240" y="2697479"/>
            <a:ext cx="256032" cy="256032"/>
          </a:xfrm>
          <a:prstGeom prst="ellipse">
            <a:avLst/>
          </a:prstGeom>
          <a:solidFill>
            <a:srgbClr val="1280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2734056"/>
            <a:ext cx="25603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FFFFFF"/>
                </a:solidFill>
                <a:latin typeface="Trebuchet MS"/>
              </a:rPr>
              <a:t>✓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2651760"/>
            <a:ext cx="46634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50" b="0">
                <a:solidFill>
                  <a:srgbClr val="10151C"/>
                </a:solidFill>
                <a:latin typeface="Trebuchet MS"/>
              </a:rPr>
              <a:t>Navegação completa por teclado, com foco sempre visível</a:t>
            </a:r>
          </a:p>
        </p:txBody>
      </p:sp>
      <p:sp>
        <p:nvSpPr>
          <p:cNvPr id="9" name="Oval 8"/>
          <p:cNvSpPr/>
          <p:nvPr/>
        </p:nvSpPr>
        <p:spPr>
          <a:xfrm>
            <a:off x="6172200" y="2697479"/>
            <a:ext cx="256032" cy="256032"/>
          </a:xfrm>
          <a:prstGeom prst="ellipse">
            <a:avLst/>
          </a:prstGeom>
          <a:solidFill>
            <a:srgbClr val="1280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172200" y="2734056"/>
            <a:ext cx="25603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FFFFFF"/>
                </a:solidFill>
                <a:latin typeface="Trebuchet MS"/>
              </a:rPr>
              <a:t>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0" y="2651760"/>
            <a:ext cx="46634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50" b="0">
                <a:solidFill>
                  <a:srgbClr val="10151C"/>
                </a:solidFill>
                <a:latin typeface="Trebuchet MS"/>
              </a:rPr>
              <a:t>Cada verificação é anunciada por leitor de tela</a:t>
            </a:r>
          </a:p>
        </p:txBody>
      </p:sp>
      <p:sp>
        <p:nvSpPr>
          <p:cNvPr id="12" name="Oval 11"/>
          <p:cNvSpPr/>
          <p:nvPr/>
        </p:nvSpPr>
        <p:spPr>
          <a:xfrm>
            <a:off x="777240" y="3566159"/>
            <a:ext cx="256032" cy="256032"/>
          </a:xfrm>
          <a:prstGeom prst="ellipse">
            <a:avLst/>
          </a:prstGeom>
          <a:solidFill>
            <a:srgbClr val="1280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3602735"/>
            <a:ext cx="25603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FFFFFF"/>
                </a:solidFill>
                <a:latin typeface="Trebuchet MS"/>
              </a:rPr>
              <a:t>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88720" y="3520439"/>
            <a:ext cx="46634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50" b="0">
                <a:solidFill>
                  <a:srgbClr val="10151C"/>
                </a:solidFill>
                <a:latin typeface="Trebuchet MS"/>
              </a:rPr>
              <a:t>Contraste WCAG AA — amarelo e laranja da marca nunca viram texto</a:t>
            </a:r>
          </a:p>
        </p:txBody>
      </p:sp>
      <p:sp>
        <p:nvSpPr>
          <p:cNvPr id="15" name="Oval 14"/>
          <p:cNvSpPr/>
          <p:nvPr/>
        </p:nvSpPr>
        <p:spPr>
          <a:xfrm>
            <a:off x="6172200" y="3566159"/>
            <a:ext cx="256032" cy="256032"/>
          </a:xfrm>
          <a:prstGeom prst="ellipse">
            <a:avLst/>
          </a:prstGeom>
          <a:solidFill>
            <a:srgbClr val="1280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172200" y="3602735"/>
            <a:ext cx="25603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FFFFFF"/>
                </a:solidFill>
                <a:latin typeface="Trebuchet MS"/>
              </a:rPr>
              <a:t>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0" y="3520439"/>
            <a:ext cx="46634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50" b="0">
                <a:solidFill>
                  <a:srgbClr val="10151C"/>
                </a:solidFill>
                <a:latin typeface="Trebuchet MS"/>
              </a:rPr>
              <a:t>Alvos de toque de 46 pixels, para usar com uma mão só</a:t>
            </a:r>
          </a:p>
        </p:txBody>
      </p:sp>
      <p:sp>
        <p:nvSpPr>
          <p:cNvPr id="18" name="Oval 17"/>
          <p:cNvSpPr/>
          <p:nvPr/>
        </p:nvSpPr>
        <p:spPr>
          <a:xfrm>
            <a:off x="777240" y="4434840"/>
            <a:ext cx="256032" cy="256032"/>
          </a:xfrm>
          <a:prstGeom prst="ellipse">
            <a:avLst/>
          </a:prstGeom>
          <a:solidFill>
            <a:srgbClr val="1280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7240" y="4471416"/>
            <a:ext cx="25603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FFFFFF"/>
                </a:solidFill>
                <a:latin typeface="Trebuchet MS"/>
              </a:rPr>
              <a:t>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88720" y="4389120"/>
            <a:ext cx="46634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50" b="0">
                <a:solidFill>
                  <a:srgbClr val="10151C"/>
                </a:solidFill>
                <a:latin typeface="Trebuchet MS"/>
              </a:rPr>
              <a:t>Nenhum estado é comunicado apenas por cor</a:t>
            </a:r>
          </a:p>
        </p:txBody>
      </p:sp>
      <p:sp>
        <p:nvSpPr>
          <p:cNvPr id="21" name="Oval 20"/>
          <p:cNvSpPr/>
          <p:nvPr/>
        </p:nvSpPr>
        <p:spPr>
          <a:xfrm>
            <a:off x="6172200" y="4434840"/>
            <a:ext cx="256032" cy="256032"/>
          </a:xfrm>
          <a:prstGeom prst="ellipse">
            <a:avLst/>
          </a:prstGeom>
          <a:solidFill>
            <a:srgbClr val="1280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172200" y="4471416"/>
            <a:ext cx="25603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FFFFFF"/>
                </a:solidFill>
                <a:latin typeface="Trebuchet MS"/>
              </a:rPr>
              <a:t>✓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0" y="4389120"/>
            <a:ext cx="46634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50" b="0">
                <a:solidFill>
                  <a:srgbClr val="10151C"/>
                </a:solidFill>
                <a:latin typeface="Trebuchet MS"/>
              </a:rPr>
              <a:t>Animação desligada para quem pediu redução de movimento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" y="6327648"/>
            <a:ext cx="64008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8A939E"/>
                </a:solidFill>
                <a:latin typeface="Trebuchet MS"/>
              </a:rPr>
              <a:t>SOU+OLÍMPIA · GRUPO 4 · IDEATHON OLIMPIALAB 2026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058400" y="6327648"/>
            <a:ext cx="13716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8A939E"/>
                </a:solidFill>
                <a:latin typeface="Trebuchet MS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502920"/>
            <a:ext cx="10607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0E6FD8"/>
                </a:solidFill>
                <a:latin typeface="Trebuchet MS"/>
              </a:rPr>
              <a:t>ENTREGA OBRIGATÓRIA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841248"/>
            <a:ext cx="1060704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3400" b="1">
                <a:solidFill>
                  <a:srgbClr val="10151C"/>
                </a:solidFill>
                <a:latin typeface="Trebuchet MS"/>
              </a:rPr>
              <a:t>O que vocês vão ver rodando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719072"/>
            <a:ext cx="1005840" cy="54864"/>
          </a:xfrm>
          <a:prstGeom prst="rect">
            <a:avLst/>
          </a:prstGeom>
          <a:solidFill>
            <a:srgbClr val="0E6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938528"/>
            <a:ext cx="1024128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0">
                <a:solidFill>
                  <a:srgbClr val="49535F"/>
                </a:solidFill>
                <a:latin typeface="Trebuchet MS"/>
              </a:rPr>
              <a:t>Protótipo funcional, sem servidor e sem internet. Toda a criptografia acontece no navegador.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2880360"/>
            <a:ext cx="384048" cy="384048"/>
          </a:xfrm>
          <a:prstGeom prst="roundRect">
            <a:avLst>
              <a:gd name="adj" fmla="val 25000"/>
            </a:avLst>
          </a:prstGeom>
          <a:solidFill>
            <a:srgbClr val="0E6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953512"/>
            <a:ext cx="38404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Trebuchet MS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25880" y="2935224"/>
            <a:ext cx="987552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>
                <a:solidFill>
                  <a:srgbClr val="10151C"/>
                </a:solidFill>
                <a:latin typeface="Trebuchet MS"/>
              </a:rPr>
              <a:t>A prefeitura credencia os quatro negócios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3392424"/>
            <a:ext cx="384048" cy="384048"/>
          </a:xfrm>
          <a:prstGeom prst="roundRect">
            <a:avLst>
              <a:gd name="adj" fmla="val 25000"/>
            </a:avLst>
          </a:prstGeom>
          <a:solidFill>
            <a:srgbClr val="0E6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3465576"/>
            <a:ext cx="38404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Trebuchet MS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25880" y="3447288"/>
            <a:ext cx="987552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>
                <a:solidFill>
                  <a:srgbClr val="10151C"/>
                </a:solidFill>
                <a:latin typeface="Trebuchet MS"/>
              </a:rPr>
              <a:t>A Padaria carimba a carteira do morador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7240" y="3904487"/>
            <a:ext cx="384048" cy="384048"/>
          </a:xfrm>
          <a:prstGeom prst="roundRect">
            <a:avLst>
              <a:gd name="adj" fmla="val 25000"/>
            </a:avLst>
          </a:prstGeom>
          <a:solidFill>
            <a:srgbClr val="0E6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3977639"/>
            <a:ext cx="38404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Trebuchet MS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25880" y="3959351"/>
            <a:ext cx="987552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>
                <a:solidFill>
                  <a:srgbClr val="10151C"/>
                </a:solidFill>
                <a:latin typeface="Trebuchet MS"/>
              </a:rPr>
              <a:t>A Farmácia verifica o carimbo da Padaria sozinha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7240" y="4416552"/>
            <a:ext cx="384048" cy="384048"/>
          </a:xfrm>
          <a:prstGeom prst="roundRect">
            <a:avLst>
              <a:gd name="adj" fmla="val 25000"/>
            </a:avLst>
          </a:prstGeom>
          <a:solidFill>
            <a:srgbClr val="0E6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4489704"/>
            <a:ext cx="38404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Trebuchet MS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25880" y="4471416"/>
            <a:ext cx="987552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>
                <a:solidFill>
                  <a:srgbClr val="10151C"/>
                </a:solidFill>
                <a:latin typeface="Trebuchet MS"/>
              </a:rPr>
              <a:t>Três lojas distintas fecham a cartela e liberam o vale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77240" y="4928616"/>
            <a:ext cx="384048" cy="384048"/>
          </a:xfrm>
          <a:prstGeom prst="roundRect">
            <a:avLst>
              <a:gd name="adj" fmla="val 25000"/>
            </a:avLst>
          </a:prstGeom>
          <a:solidFill>
            <a:srgbClr val="D627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" y="5001768"/>
            <a:ext cx="38404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Trebuchet MS"/>
              </a:rPr>
              <a:t>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25880" y="4983480"/>
            <a:ext cx="987552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>
                <a:solidFill>
                  <a:srgbClr val="10151C"/>
                </a:solidFill>
                <a:latin typeface="Trebuchet MS"/>
              </a:rPr>
              <a:t>O vale é resgatado — e a segunda tentativa é recusada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77240" y="5440680"/>
            <a:ext cx="384048" cy="384048"/>
          </a:xfrm>
          <a:prstGeom prst="roundRect">
            <a:avLst>
              <a:gd name="adj" fmla="val 25000"/>
            </a:avLst>
          </a:prstGeom>
          <a:solidFill>
            <a:srgbClr val="D627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7240" y="5513832"/>
            <a:ext cx="38404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Trebuchet MS"/>
              </a:rPr>
              <a:t>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25880" y="5495544"/>
            <a:ext cx="987552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>
                <a:solidFill>
                  <a:srgbClr val="10151C"/>
                </a:solidFill>
                <a:latin typeface="Trebuchet MS"/>
              </a:rPr>
              <a:t>Um carimbo adulterado é rejeitado na hora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7240" y="6089904"/>
            <a:ext cx="106070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>
                <a:solidFill>
                  <a:srgbClr val="49535F"/>
                </a:solidFill>
                <a:latin typeface="Trebuchet MS"/>
              </a:rPr>
              <a:t>Os dois últimos passos são os que provam a tese: a rede recusa o que não deveria aceitar.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7240" y="6327648"/>
            <a:ext cx="64008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8A939E"/>
                </a:solidFill>
                <a:latin typeface="Trebuchet MS"/>
              </a:rPr>
              <a:t>SOU+OLÍMPIA · GRUPO 4 · IDEATHON OLIMPIALAB 2026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058400" y="6327648"/>
            <a:ext cx="13716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8A939E"/>
                </a:solidFill>
                <a:latin typeface="Trebuchet MS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502920"/>
            <a:ext cx="10607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0E6FD8"/>
                </a:solidFill>
                <a:latin typeface="Trebuchet MS"/>
              </a:rPr>
              <a:t>GOVERNANÇA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841248"/>
            <a:ext cx="1060704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3400" b="1">
                <a:solidFill>
                  <a:srgbClr val="10151C"/>
                </a:solidFill>
                <a:latin typeface="Trebuchet MS"/>
              </a:rPr>
              <a:t>A prefeitura coordena — e não paga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719072"/>
            <a:ext cx="1005840" cy="54864"/>
          </a:xfrm>
          <a:prstGeom prst="rect">
            <a:avLst/>
          </a:prstGeom>
          <a:solidFill>
            <a:srgbClr val="0E6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77240" y="2514600"/>
            <a:ext cx="512064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E0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097280" y="2743200"/>
            <a:ext cx="4572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>
                <a:solidFill>
                  <a:srgbClr val="0A4C96"/>
                </a:solidFill>
                <a:latin typeface="Trebuchet MS"/>
              </a:rPr>
              <a:t>O que a prefeitura faz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3154680"/>
            <a:ext cx="452628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>
                <a:solidFill>
                  <a:srgbClr val="49535F"/>
                </a:solidFill>
                <a:latin typeface="Trebuchet MS"/>
              </a:rPr>
              <a:t>Assina credenciais, chancela o programa e recebe os indicadores de circulação. Nada mais que isso.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2514600"/>
            <a:ext cx="512064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E0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6583680" y="2743200"/>
            <a:ext cx="4572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>
                <a:solidFill>
                  <a:srgbClr val="D62718"/>
                </a:solidFill>
                <a:latin typeface="Trebuchet MS"/>
              </a:rPr>
              <a:t>O que ela não faz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0" y="3154680"/>
            <a:ext cx="452628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>
                <a:solidFill>
                  <a:srgbClr val="49535F"/>
                </a:solidFill>
                <a:latin typeface="Trebuchet MS"/>
              </a:rPr>
              <a:t>Não custeia desconto. Se custeasse, viraria subsídio a consumo — exigindo lei, dotação, licitação e prestação de contas ao TCE.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" y="4617720"/>
            <a:ext cx="10607040" cy="1234440"/>
          </a:xfrm>
          <a:prstGeom prst="roundRect">
            <a:avLst>
              <a:gd name="adj" fmla="val 8000"/>
            </a:avLst>
          </a:prstGeom>
          <a:solidFill>
            <a:srgbClr val="E7F1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1097280" y="4828032"/>
            <a:ext cx="1005840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50" b="0">
                <a:solidFill>
                  <a:srgbClr val="0A4C96"/>
                </a:solidFill>
                <a:latin typeface="Trebuchet MS"/>
              </a:rPr>
              <a:t>Encaixe legal: Olímpia já tem o Observatório do Turismo (Lei 5.060/2025) e o SMITS (Lei 5.343/2026), cuja finalidade é produzir e integrar informação estratégica.</a:t>
            </a:r>
          </a:p>
          <a:p>
            <a:pPr algn="l">
              <a:lnSpc>
                <a:spcPct val="130000"/>
              </a:lnSpc>
            </a:pPr>
            <a:r>
              <a:rPr sz="1450" b="0">
                <a:solidFill>
                  <a:srgbClr val="0A4C96"/>
                </a:solidFill>
                <a:latin typeface="Trebuchet MS"/>
              </a:rPr>
              <a:t>O programa entra como módulo de varejo — estender uma lei que existe, em vez de aprovar uma nova. A confirmar com a procuradoria.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6327648"/>
            <a:ext cx="64008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8A939E"/>
                </a:solidFill>
                <a:latin typeface="Trebuchet MS"/>
              </a:rPr>
              <a:t>SOU+OLÍMPIA · GRUPO 4 · IDEATHON OLIMPIALAB 2026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0" y="6327648"/>
            <a:ext cx="13716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8A939E"/>
                </a:solidFill>
                <a:latin typeface="Trebuchet MS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502920"/>
            <a:ext cx="10607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0E6FD8"/>
                </a:solidFill>
                <a:latin typeface="Trebuchet MS"/>
              </a:rPr>
              <a:t>O QUE AINDA NÃO SABEMOS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841248"/>
            <a:ext cx="1060704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3400" b="1">
                <a:solidFill>
                  <a:srgbClr val="10151C"/>
                </a:solidFill>
                <a:latin typeface="Trebuchet MS"/>
              </a:rPr>
              <a:t>Os limites, ditos por nós</a:t>
            </a:r>
          </a:p>
          <a:p>
            <a:pPr algn="l">
              <a:lnSpc>
                <a:spcPct val="102000"/>
              </a:lnSpc>
            </a:pPr>
            <a:r>
              <a:rPr sz="3400" b="1">
                <a:solidFill>
                  <a:srgbClr val="10151C"/>
                </a:solidFill>
                <a:latin typeface="Trebuchet MS"/>
              </a:rPr>
              <a:t>antes de alguém perguntar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719072"/>
            <a:ext cx="1005840" cy="54864"/>
          </a:xfrm>
          <a:prstGeom prst="rect">
            <a:avLst/>
          </a:prstGeom>
          <a:solidFill>
            <a:srgbClr val="0E6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77240" y="2423160"/>
            <a:ext cx="10607040" cy="1051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8C6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777240" y="2423160"/>
            <a:ext cx="73152" cy="1051560"/>
          </a:xfrm>
          <a:prstGeom prst="rect">
            <a:avLst/>
          </a:prstGeom>
          <a:solidFill>
            <a:srgbClr val="E07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2587752"/>
            <a:ext cx="99669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10151C"/>
                </a:solidFill>
                <a:latin typeface="Trebuchet MS"/>
              </a:rPr>
              <a:t>Não temos evidência de que o varejo caia na baixa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2953512"/>
            <a:ext cx="99669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50" b="0">
                <a:solidFill>
                  <a:srgbClr val="49535F"/>
                </a:solidFill>
                <a:latin typeface="Trebuchet MS"/>
              </a:rPr>
              <a:t>A sazonalidade medida é de serviços. Fomos verificar o varejo e o emprego formal é plano o ano todo.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3611880"/>
            <a:ext cx="10607040" cy="1051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8C6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777240" y="3611880"/>
            <a:ext cx="73152" cy="1051560"/>
          </a:xfrm>
          <a:prstGeom prst="rect">
            <a:avLst/>
          </a:prstGeom>
          <a:solidFill>
            <a:srgbClr val="E07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43000" y="3776472"/>
            <a:ext cx="99669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10151C"/>
                </a:solidFill>
                <a:latin typeface="Trebuchet MS"/>
              </a:rPr>
              <a:t>O programa não fecha o vale, e nenhuma tática fecha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" y="4142232"/>
            <a:ext cx="99669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50" b="0">
                <a:solidFill>
                  <a:srgbClr val="49535F"/>
                </a:solidFill>
                <a:latin typeface="Trebuchet MS"/>
              </a:rPr>
              <a:t>Olímpia tem uma loja para cada 49 habitantes, capacidade dimensionada para o turista. Dá para reduzir a amplitude.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7240" y="4800600"/>
            <a:ext cx="10607040" cy="1051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8C6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777240" y="4800600"/>
            <a:ext cx="73152" cy="1051560"/>
          </a:xfrm>
          <a:prstGeom prst="rect">
            <a:avLst/>
          </a:prstGeom>
          <a:solidFill>
            <a:srgbClr val="E07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43000" y="4965192"/>
            <a:ext cx="99669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10151C"/>
                </a:solidFill>
                <a:latin typeface="Trebuchet MS"/>
              </a:rPr>
              <a:t>A premissa mais arriscada ainda não foi testada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43000" y="5330952"/>
            <a:ext cx="99669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50" b="0">
                <a:solidFill>
                  <a:srgbClr val="49535F"/>
                </a:solidFill>
                <a:latin typeface="Trebuchet MS"/>
              </a:rPr>
              <a:t>Se existe demanda adiável do morador que responda a desconto. Testável com 3 a 5 lojas e um grupo de controle.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6080759"/>
            <a:ext cx="106070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>
                <a:solidFill>
                  <a:srgbClr val="49535F"/>
                </a:solidFill>
                <a:latin typeface="Trebuchet MS"/>
              </a:rPr>
              <a:t>Dizer isso pontua mais do que fingir certeza — e é o que separa diagnóstico de chute.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6327648"/>
            <a:ext cx="64008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8A939E"/>
                </a:solidFill>
                <a:latin typeface="Trebuchet MS"/>
              </a:rPr>
              <a:t>SOU+OLÍMPIA · GRUPO 4 · IDEATHON OLIMPIALAB 2026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58400" y="6327648"/>
            <a:ext cx="13716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8A939E"/>
                </a:solidFill>
                <a:latin typeface="Trebuchet MS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502920"/>
            <a:ext cx="10607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0E6FD8"/>
                </a:solidFill>
                <a:latin typeface="Trebuchet MS"/>
              </a:rPr>
              <a:t>O PROTÓTIPO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841248"/>
            <a:ext cx="1060704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3400" b="1">
                <a:solidFill>
                  <a:srgbClr val="10151C"/>
                </a:solidFill>
                <a:latin typeface="Trebuchet MS"/>
              </a:rPr>
              <a:t>A Loja B verificando o carimbo</a:t>
            </a:r>
          </a:p>
          <a:p>
            <a:pPr algn="l">
              <a:lnSpc>
                <a:spcPct val="102000"/>
              </a:lnSpc>
            </a:pPr>
            <a:r>
              <a:rPr sz="3400" b="1">
                <a:solidFill>
                  <a:srgbClr val="10151C"/>
                </a:solidFill>
                <a:latin typeface="Trebuchet MS"/>
              </a:rPr>
              <a:t>da Loja A, sozinha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719072"/>
            <a:ext cx="1005840" cy="54864"/>
          </a:xfrm>
          <a:prstGeom prst="rect">
            <a:avLst/>
          </a:prstGeom>
          <a:solidFill>
            <a:srgbClr val="0E6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mvp-verific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31720" y="2148840"/>
            <a:ext cx="4341412" cy="35661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77240" y="5897880"/>
            <a:ext cx="106070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0">
                <a:solidFill>
                  <a:srgbClr val="49535F"/>
                </a:solidFill>
                <a:latin typeface="Trebuchet MS"/>
              </a:rPr>
              <a:t>Sem servidor, sem internet e sem planilha: a validação usa só a chave pública da prefeitura, no próprio aparelho.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6327648"/>
            <a:ext cx="64008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8A939E"/>
                </a:solidFill>
                <a:latin typeface="Trebuchet MS"/>
              </a:rPr>
              <a:t>SOU+OLÍMPIA · GRUPO 4 · IDEATHON OLIMPIALAB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0" y="6327648"/>
            <a:ext cx="13716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8A939E"/>
                </a:solidFill>
                <a:latin typeface="Trebuchet MS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502920"/>
            <a:ext cx="10607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0E6FD8"/>
                </a:solidFill>
                <a:latin typeface="Trebuchet MS"/>
              </a:rPr>
              <a:t>PLANO 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841248"/>
            <a:ext cx="1060704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3400" b="1">
                <a:solidFill>
                  <a:srgbClr val="10151C"/>
                </a:solidFill>
                <a:latin typeface="Trebuchet MS"/>
              </a:rPr>
              <a:t>Capturas da demonstração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719072"/>
            <a:ext cx="1005840" cy="54864"/>
          </a:xfrm>
          <a:prstGeom prst="rect">
            <a:avLst/>
          </a:prstGeom>
          <a:solidFill>
            <a:srgbClr val="0E6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mvp-re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2240280"/>
            <a:ext cx="5120640" cy="4206240"/>
          </a:xfrm>
          <a:prstGeom prst="rect">
            <a:avLst/>
          </a:prstGeom>
        </p:spPr>
      </p:pic>
      <p:pic>
        <p:nvPicPr>
          <p:cNvPr id="7" name="Picture 6" descr="mvp-carteir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3640" y="2240280"/>
            <a:ext cx="5120640" cy="420624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77240" y="5715000"/>
            <a:ext cx="5120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49535F"/>
                </a:solidFill>
                <a:latin typeface="Trebuchet MS"/>
              </a:rPr>
              <a:t>Credenciamento dos negócios pela prefeitura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63640" y="5715000"/>
            <a:ext cx="5120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49535F"/>
                </a:solidFill>
                <a:latin typeface="Trebuchet MS"/>
              </a:rPr>
              <a:t>Carteira do morador, sem nome e sem CPF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6327648"/>
            <a:ext cx="64008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8A939E"/>
                </a:solidFill>
                <a:latin typeface="Trebuchet MS"/>
              </a:rPr>
              <a:t>SOU+OLÍMPIA · GRUPO 4 · IDEATHON OLIMPIALAB 2026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0" y="6327648"/>
            <a:ext cx="13716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8A939E"/>
                </a:solidFill>
                <a:latin typeface="Trebuchet MS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0E6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868680"/>
            <a:ext cx="3511296" cy="13716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14400" y="2651760"/>
            <a:ext cx="10058400" cy="1737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600" b="1">
                <a:solidFill>
                  <a:srgbClr val="10151C"/>
                </a:solidFill>
                <a:latin typeface="Trebuchet MS"/>
              </a:rPr>
              <a:t>“Olímpia fatura 26% do seu ano de serviços em dois meses.</a:t>
            </a:r>
          </a:p>
          <a:p>
            <a:pPr algn="l">
              <a:lnSpc>
                <a:spcPct val="125000"/>
              </a:lnSpc>
            </a:pPr>
            <a:r>
              <a:rPr sz="2600" b="1">
                <a:solidFill>
                  <a:srgbClr val="10151C"/>
                </a:solidFill>
                <a:latin typeface="Trebuchet MS"/>
              </a:rPr>
              <a:t>Medimos isso com o ISS mensal do Tesouro Nacional — e descobrimos</a:t>
            </a:r>
          </a:p>
          <a:p>
            <a:pPr algn="l">
              <a:lnSpc>
                <a:spcPct val="125000"/>
              </a:lnSpc>
            </a:pPr>
            <a:r>
              <a:rPr sz="2600" b="1">
                <a:solidFill>
                  <a:srgbClr val="10151C"/>
                </a:solidFill>
                <a:latin typeface="Trebuchet MS"/>
              </a:rPr>
              <a:t>que o problema não é falta de cliente. É falta de uma camada que</a:t>
            </a:r>
          </a:p>
          <a:p>
            <a:pPr algn="l">
              <a:lnSpc>
                <a:spcPct val="125000"/>
              </a:lnSpc>
            </a:pPr>
            <a:r>
              <a:rPr sz="2600" b="1">
                <a:solidFill>
                  <a:srgbClr val="10151C"/>
                </a:solidFill>
                <a:latin typeface="Trebuchet MS"/>
              </a:rPr>
              <a:t>permita os negócios da cidade agirem juntos.”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4709160"/>
            <a:ext cx="10332720" cy="960120"/>
          </a:xfrm>
          <a:prstGeom prst="roundRect">
            <a:avLst>
              <a:gd name="adj" fmla="val 8000"/>
            </a:avLst>
          </a:prstGeom>
          <a:solidFill>
            <a:srgbClr val="E7F1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34440" y="4956048"/>
            <a:ext cx="97840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>
                <a:solidFill>
                  <a:srgbClr val="0A4C96"/>
                </a:solidFill>
                <a:latin typeface="Trebuchet MS"/>
              </a:rPr>
              <a:t>Sou+Olímpia · a rede de confiança que a cidade ainda não tem — e o programa de circulação que roda em cima dela.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5943600"/>
            <a:ext cx="10332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8A939E"/>
                </a:solidFill>
                <a:latin typeface="Trebuchet MS"/>
              </a:rPr>
              <a:t>Grupo 4 · Geise · Bruno · Alan · Naisa · Renan · Alan · Eduardo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