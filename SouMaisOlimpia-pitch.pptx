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4447642" cy="1737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3200400"/>
            <a:ext cx="9875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000" b="1">
                <a:solidFill>
                  <a:srgbClr val="10151C"/>
                </a:solidFill>
                <a:latin typeface="Trebuchet MS"/>
              </a:rPr>
              <a:t>Rede de confiança para os</a:t>
            </a:r>
          </a:p>
          <a:p>
            <a:pPr algn="l">
              <a:lnSpc>
                <a:spcPct val="102000"/>
              </a:lnSpc>
            </a:pPr>
            <a:r>
              <a:rPr sz="4000" b="1">
                <a:solidFill>
                  <a:srgbClr val="10151C"/>
                </a:solidFill>
                <a:latin typeface="Trebuchet MS"/>
              </a:rPr>
              <a:t>negócios de Olímpia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8961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49535F"/>
                </a:solidFill>
                <a:latin typeface="Trebuchet MS"/>
              </a:rPr>
              <a:t>Pequenos negócios provando quem são e verificando uns aos outros —</a:t>
            </a:r>
          </a:p>
          <a:p>
            <a:pPr algn="l">
              <a:lnSpc>
                <a:spcPct val="130000"/>
              </a:lnSpc>
            </a:pPr>
            <a:r>
              <a:rPr sz="1700" b="0">
                <a:solidFill>
                  <a:srgbClr val="49535F"/>
                </a:solidFill>
                <a:latin typeface="Trebuchet MS"/>
              </a:rPr>
              <a:t>sem planilha e sem grupo de WhatsApp.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5532120"/>
            <a:ext cx="4023360" cy="548640"/>
          </a:xfrm>
          <a:prstGeom prst="roundRect">
            <a:avLst>
              <a:gd name="adj" fmla="val 4000"/>
            </a:avLst>
          </a:prstGeom>
          <a:solidFill>
            <a:srgbClr val="E7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43000" y="567842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A4C96"/>
                </a:solidFill>
                <a:latin typeface="Trebuchet MS"/>
              </a:rPr>
              <a:t>Desafio 2 · Olímpia Conecta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5678424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A939E"/>
                </a:solidFill>
                <a:latin typeface="Trebuchet MS"/>
              </a:rPr>
              <a:t>Grupo 4 · Geise · Bruno · Alan · Naisa · Renan · Alan · Eduardo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E6FD8"/>
                </a:solidFill>
                <a:latin typeface="Trebuchet MS"/>
              </a:rPr>
              <a:t>O PROBLEMA, MEDIDO POR NÓS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>
                <a:solidFill>
                  <a:srgbClr val="10151C"/>
                </a:solidFill>
                <a:latin typeface="Trebuchet MS"/>
              </a:rPr>
              <a:t>Olímpia fatura 26% do seu ano</a:t>
            </a:r>
          </a:p>
          <a:p>
            <a:pPr algn="l">
              <a:lnSpc>
                <a:spcPct val="102000"/>
              </a:lnSpc>
            </a:pPr>
            <a:r>
              <a:rPr sz="3400" b="1">
                <a:solidFill>
                  <a:srgbClr val="10151C"/>
                </a:solidFill>
                <a:latin typeface="Trebuchet MS"/>
              </a:rPr>
              <a:t>de serviços em dois meses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19072"/>
            <a:ext cx="1005840" cy="54864"/>
          </a:xfrm>
          <a:prstGeom prst="rect">
            <a:avLst/>
          </a:prstGeom>
          <a:solidFill>
            <a:srgbClr val="0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3359075"/>
            <a:ext cx="10607040" cy="13716"/>
          </a:xfrm>
          <a:prstGeom prst="rect">
            <a:avLst/>
          </a:prstGeom>
          <a:solidFill>
            <a:srgbClr val="8A93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3084755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8A939E"/>
                </a:solidFill>
                <a:latin typeface="Trebuchet MS"/>
              </a:rPr>
              <a:t>média do ano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7" y="2577263"/>
            <a:ext cx="755904" cy="2314776"/>
          </a:xfrm>
          <a:prstGeom prst="roundRect">
            <a:avLst>
              <a:gd name="adj" fmla="val 8000"/>
            </a:avLst>
          </a:prstGeom>
          <a:solidFill>
            <a:srgbClr val="0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84655"/>
            <a:ext cx="883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0151C"/>
                </a:solidFill>
                <a:latin typeface="Trebuchet MS"/>
              </a:rPr>
              <a:t>1,51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65192"/>
            <a:ext cx="883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49535F"/>
                </a:solidFill>
                <a:latin typeface="Trebuchet MS"/>
              </a:rPr>
              <a:t>Jan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25168" y="3650338"/>
            <a:ext cx="755904" cy="1241701"/>
          </a:xfrm>
          <a:prstGeom prst="roundRect">
            <a:avLst>
              <a:gd name="adj" fmla="val 8000"/>
            </a:avLst>
          </a:prstGeom>
          <a:solidFill>
            <a:srgbClr val="9EC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61160" y="3357730"/>
            <a:ext cx="883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49535F"/>
                </a:solidFill>
                <a:latin typeface="Trebuchet MS"/>
              </a:rPr>
              <a:t>0,81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1160" y="4965192"/>
            <a:ext cx="883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49535F"/>
                </a:solidFill>
                <a:latin typeface="Trebuchet MS"/>
              </a:rPr>
              <a:t>Fev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09087" y="3665668"/>
            <a:ext cx="755904" cy="1226371"/>
          </a:xfrm>
          <a:prstGeom prst="roundRect">
            <a:avLst>
              <a:gd name="adj" fmla="val 8000"/>
            </a:avLst>
          </a:prstGeom>
          <a:solidFill>
            <a:srgbClr val="9EC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45080" y="3373060"/>
            <a:ext cx="883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49535F"/>
                </a:solidFill>
                <a:latin typeface="Trebuchet MS"/>
              </a:rPr>
              <a:t>0,80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5080" y="4965192"/>
            <a:ext cx="883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49535F"/>
                </a:solidFill>
                <a:latin typeface="Trebuchet MS"/>
              </a:rPr>
              <a:t>Mar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93008" y="3481712"/>
            <a:ext cx="755904" cy="1410327"/>
          </a:xfrm>
          <a:prstGeom prst="roundRect">
            <a:avLst>
              <a:gd name="adj" fmla="val 8000"/>
            </a:avLst>
          </a:prstGeom>
          <a:solidFill>
            <a:srgbClr val="9EC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3189104"/>
            <a:ext cx="883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49535F"/>
                </a:solidFill>
                <a:latin typeface="Trebuchet MS"/>
              </a:rPr>
              <a:t>0,92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9000" y="4965192"/>
            <a:ext cx="883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49535F"/>
                </a:solidFill>
                <a:latin typeface="Trebuchet MS"/>
              </a:rPr>
              <a:t>Abr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6928" y="3711657"/>
            <a:ext cx="755904" cy="1180382"/>
          </a:xfrm>
          <a:prstGeom prst="roundRect">
            <a:avLst>
              <a:gd name="adj" fmla="val 8000"/>
            </a:avLst>
          </a:prstGeom>
          <a:solidFill>
            <a:srgbClr val="9EC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12920" y="3419049"/>
            <a:ext cx="883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49535F"/>
                </a:solidFill>
                <a:latin typeface="Trebuchet MS"/>
              </a:rPr>
              <a:t>0,77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12920" y="4965192"/>
            <a:ext cx="883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49535F"/>
                </a:solidFill>
                <a:latin typeface="Trebuchet MS"/>
              </a:rPr>
              <a:t>Mai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260848" y="3696327"/>
            <a:ext cx="755904" cy="1195712"/>
          </a:xfrm>
          <a:prstGeom prst="roundRect">
            <a:avLst>
              <a:gd name="adj" fmla="val 8000"/>
            </a:avLst>
          </a:prstGeom>
          <a:solidFill>
            <a:srgbClr val="9EC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6839" y="3403719"/>
            <a:ext cx="883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49535F"/>
                </a:solidFill>
                <a:latin typeface="Trebuchet MS"/>
              </a:rPr>
              <a:t>0,78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6839" y="4965192"/>
            <a:ext cx="883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49535F"/>
                </a:solidFill>
                <a:latin typeface="Trebuchet MS"/>
              </a:rPr>
              <a:t>Jun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2653911"/>
            <a:ext cx="755904" cy="2238128"/>
          </a:xfrm>
          <a:prstGeom prst="roundRect">
            <a:avLst>
              <a:gd name="adj" fmla="val 8000"/>
            </a:avLst>
          </a:prstGeom>
          <a:solidFill>
            <a:srgbClr val="0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80759" y="2361303"/>
            <a:ext cx="883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0151C"/>
                </a:solidFill>
                <a:latin typeface="Trebuchet MS"/>
              </a:rPr>
              <a:t>1,46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59" y="4965192"/>
            <a:ext cx="883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49535F"/>
                </a:solidFill>
                <a:latin typeface="Trebuchet MS"/>
              </a:rPr>
              <a:t>Jul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028688" y="3558360"/>
            <a:ext cx="755904" cy="1333679"/>
          </a:xfrm>
          <a:prstGeom prst="roundRect">
            <a:avLst>
              <a:gd name="adj" fmla="val 8000"/>
            </a:avLst>
          </a:prstGeom>
          <a:solidFill>
            <a:srgbClr val="9EC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64680" y="3265752"/>
            <a:ext cx="883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49535F"/>
                </a:solidFill>
                <a:latin typeface="Trebuchet MS"/>
              </a:rPr>
              <a:t>0,87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64680" y="4965192"/>
            <a:ext cx="883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49535F"/>
                </a:solidFill>
                <a:latin typeface="Trebuchet MS"/>
              </a:rPr>
              <a:t>Ago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12608" y="3497042"/>
            <a:ext cx="755904" cy="1394997"/>
          </a:xfrm>
          <a:prstGeom prst="roundRect">
            <a:avLst>
              <a:gd name="adj" fmla="val 8000"/>
            </a:avLst>
          </a:prstGeom>
          <a:solidFill>
            <a:srgbClr val="9EC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48600" y="3204434"/>
            <a:ext cx="883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49535F"/>
                </a:solidFill>
                <a:latin typeface="Trebuchet MS"/>
              </a:rPr>
              <a:t>0,91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48600" y="4965192"/>
            <a:ext cx="883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49535F"/>
                </a:solidFill>
                <a:latin typeface="Trebuchet MS"/>
              </a:rPr>
              <a:t>Set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796528" y="3129130"/>
            <a:ext cx="755904" cy="1762909"/>
          </a:xfrm>
          <a:prstGeom prst="roundRect">
            <a:avLst>
              <a:gd name="adj" fmla="val 8000"/>
            </a:avLst>
          </a:prstGeom>
          <a:solidFill>
            <a:srgbClr val="0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32519" y="2836522"/>
            <a:ext cx="883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0151C"/>
                </a:solidFill>
                <a:latin typeface="Trebuchet MS"/>
              </a:rPr>
              <a:t>1,15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32519" y="4965192"/>
            <a:ext cx="883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49535F"/>
                </a:solidFill>
                <a:latin typeface="Trebuchet MS"/>
              </a:rPr>
              <a:t>Out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680448" y="3466382"/>
            <a:ext cx="755904" cy="1425657"/>
          </a:xfrm>
          <a:prstGeom prst="roundRect">
            <a:avLst>
              <a:gd name="adj" fmla="val 8000"/>
            </a:avLst>
          </a:prstGeom>
          <a:solidFill>
            <a:srgbClr val="9EC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16440" y="3173774"/>
            <a:ext cx="883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49535F"/>
                </a:solidFill>
                <a:latin typeface="Trebuchet MS"/>
              </a:rPr>
              <a:t>0,93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16440" y="4965192"/>
            <a:ext cx="883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49535F"/>
                </a:solidFill>
                <a:latin typeface="Trebuchet MS"/>
              </a:rPr>
              <a:t>Nov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564368" y="3297756"/>
            <a:ext cx="755904" cy="1594283"/>
          </a:xfrm>
          <a:prstGeom prst="roundRect">
            <a:avLst>
              <a:gd name="adj" fmla="val 8000"/>
            </a:avLst>
          </a:prstGeom>
          <a:solidFill>
            <a:srgbClr val="9EC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00360" y="3005148"/>
            <a:ext cx="883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49535F"/>
                </a:solidFill>
                <a:latin typeface="Trebuchet MS"/>
              </a:rPr>
              <a:t>1,04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00360" y="4965192"/>
            <a:ext cx="883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49535F"/>
                </a:solidFill>
                <a:latin typeface="Trebuchet MS"/>
              </a:rPr>
              <a:t>Dez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5394960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49535F"/>
                </a:solidFill>
                <a:latin typeface="Trebuchet MS"/>
              </a:rPr>
              <a:t>Índice sazonal do ISS, 36 meses, construído por nós a partir da API do Tesouro Nacional.</a:t>
            </a:r>
          </a:p>
          <a:p>
            <a:pPr algn="l">
              <a:lnSpc>
                <a:spcPct val="130000"/>
              </a:lnSpc>
            </a:pPr>
            <a:r>
              <a:rPr sz="1450" b="0">
                <a:solidFill>
                  <a:srgbClr val="49535F"/>
                </a:solidFill>
                <a:latin typeface="Trebuchet MS"/>
              </a:rPr>
              <a:t>Janeiro vale 1,96× maio. Oito dos doze meses ficam abaixo da média do próprio ano.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632764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939E"/>
                </a:solidFill>
                <a:latin typeface="Trebuchet MS"/>
              </a:rPr>
              <a:t>SOU+OLÍMPIA · GRUPO 4 · IDEATHON OLIMPIALAB 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8400" y="632764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939E"/>
                </a:solidFill>
                <a:latin typeface="Trebuchet M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E6FD8"/>
                </a:solidFill>
                <a:latin typeface="Trebuchet MS"/>
              </a:rPr>
              <a:t>CINCO PORQUÊS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>
                <a:solidFill>
                  <a:srgbClr val="10151C"/>
                </a:solidFill>
                <a:latin typeface="Trebuchet MS"/>
              </a:rPr>
              <a:t>O problema não é falta de cliente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19072"/>
            <a:ext cx="1005840" cy="54864"/>
          </a:xfrm>
          <a:prstGeom prst="rect">
            <a:avLst/>
          </a:prstGeom>
          <a:solidFill>
            <a:srgbClr val="0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194560"/>
            <a:ext cx="10607040" cy="60350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D9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960120" y="2340864"/>
            <a:ext cx="310896" cy="310896"/>
          </a:xfrm>
          <a:prstGeom prst="ellipse">
            <a:avLst/>
          </a:prstGeom>
          <a:solidFill>
            <a:srgbClr val="0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86584"/>
            <a:ext cx="31089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295144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0151C"/>
                </a:solidFill>
                <a:latin typeface="Trebuchet MS"/>
              </a:rPr>
              <a:t>O faturamento de serviços cai pela metade na baixa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322576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9535F"/>
                </a:solidFill>
                <a:latin typeface="Trebuchet MS"/>
              </a:rPr>
              <a:t>1,51 em janeiro contra 0,77 em maio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889504"/>
            <a:ext cx="10607040" cy="60350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D9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960120" y="3035808"/>
            <a:ext cx="310896" cy="310896"/>
          </a:xfrm>
          <a:prstGeom prst="ellipse">
            <a:avLst/>
          </a:prstGeom>
          <a:solidFill>
            <a:srgbClr val="0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081528"/>
            <a:ext cx="31089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99008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0151C"/>
                </a:solidFill>
                <a:latin typeface="Trebuchet MS"/>
              </a:rPr>
              <a:t>A demanda é turística e só vem nas férias escolares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01752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9535F"/>
                </a:solidFill>
                <a:latin typeface="Trebuchet MS"/>
              </a:rPr>
              <a:t>Carnaval tem 80,6% de ocupação e cai num mês de 0,81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584448"/>
            <a:ext cx="10607040" cy="60350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D9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960120" y="3730752"/>
            <a:ext cx="310896" cy="310896"/>
          </a:xfrm>
          <a:prstGeom prst="ellipse">
            <a:avLst/>
          </a:prstGeom>
          <a:solidFill>
            <a:srgbClr val="0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776472"/>
            <a:ext cx="31089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68503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0151C"/>
                </a:solidFill>
                <a:latin typeface="Trebuchet MS"/>
              </a:rPr>
              <a:t>O morador sozinho não cobre o buraco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3712463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9535F"/>
                </a:solidFill>
                <a:latin typeface="Trebuchet MS"/>
              </a:rPr>
              <a:t>seriam R$ 3.278 a 8.195 a mais por domicílio por mês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279392"/>
            <a:ext cx="10607040" cy="60350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D9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960120" y="4425696"/>
            <a:ext cx="310896" cy="310896"/>
          </a:xfrm>
          <a:prstGeom prst="ellipse">
            <a:avLst/>
          </a:prstGeom>
          <a:solidFill>
            <a:srgbClr val="0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471416"/>
            <a:ext cx="31089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Trebuchet M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4379976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0151C"/>
                </a:solidFill>
                <a:latin typeface="Trebuchet MS"/>
              </a:rPr>
              <a:t>A saída é ação coletiva entre negócios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4407407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9535F"/>
                </a:solidFill>
                <a:latin typeface="Trebuchet MS"/>
              </a:rPr>
              <a:t>campanha que manda o cliente de uma casa para outra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4974336"/>
            <a:ext cx="10607040" cy="60350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D9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960120" y="5120640"/>
            <a:ext cx="310896" cy="310896"/>
          </a:xfrm>
          <a:prstGeom prst="ellipse">
            <a:avLst/>
          </a:prstGeom>
          <a:solidFill>
            <a:srgbClr val="0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5166359"/>
            <a:ext cx="31089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Trebuchet MS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507492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0151C"/>
                </a:solidFill>
                <a:latin typeface="Trebuchet MS"/>
              </a:rPr>
              <a:t>Mas parceria hoje roda em planilha e WhatsApp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5102351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9535F"/>
                </a:solidFill>
                <a:latin typeface="Trebuchet MS"/>
              </a:rPr>
              <a:t>ninguém consegue verificar o que o outro afirma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5797295"/>
            <a:ext cx="10607040" cy="731520"/>
          </a:xfrm>
          <a:prstGeom prst="roundRect">
            <a:avLst>
              <a:gd name="adj" fmla="val 16000"/>
            </a:avLst>
          </a:prstGeom>
          <a:solidFill>
            <a:srgbClr val="0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051560" y="5971031"/>
            <a:ext cx="10058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Trebuchet MS"/>
              </a:rPr>
              <a:t>Causa raiz: falta uma camada de confiança entre os negócios locais. É exatamente o Desafio 2.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32764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939E"/>
                </a:solidFill>
                <a:latin typeface="Trebuchet MS"/>
              </a:rPr>
              <a:t>SOU+OLÍMPIA · GRUPO 4 · IDEATHON OLIMPIALAB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632764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939E"/>
                </a:solidFill>
                <a:latin typeface="Trebuchet M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E6FD8"/>
                </a:solidFill>
                <a:latin typeface="Trebuchet MS"/>
              </a:rPr>
              <a:t>A SOLUÇÃO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>
                <a:solidFill>
                  <a:srgbClr val="10151C"/>
                </a:solidFill>
                <a:latin typeface="Trebuchet MS"/>
              </a:rPr>
              <a:t>Sou+Olímpia — a rede primeiro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19072"/>
            <a:ext cx="1005840" cy="54864"/>
          </a:xfrm>
          <a:prstGeom prst="rect">
            <a:avLst/>
          </a:prstGeom>
          <a:solidFill>
            <a:srgbClr val="0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38528"/>
            <a:ext cx="10241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49535F"/>
                </a:solidFill>
                <a:latin typeface="Trebuchet MS"/>
              </a:rPr>
              <a:t>A prefeitura assina a credencial de cada negócio. A partir daí, qualquer um emite registros assinados e qualquer outro verifica sozinho, sem consultar o emissor e sem planilha central.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017520"/>
            <a:ext cx="2377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05840" y="3218688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62718"/>
                </a:solidFill>
                <a:latin typeface="Trebuchet MS"/>
              </a:rPr>
              <a:t>RESTAURANTE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5661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0151C"/>
                </a:solidFill>
                <a:latin typeface="Trebuchet MS"/>
              </a:rPr>
              <a:t>Emite um carimbo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0151C"/>
                </a:solidFill>
                <a:latin typeface="Trebuchet MS"/>
              </a:rPr>
              <a:t>assinado com a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0151C"/>
                </a:solidFill>
                <a:latin typeface="Trebuchet MS"/>
              </a:rPr>
              <a:t>própria chave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72968" y="3749039"/>
            <a:ext cx="320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8A939E"/>
                </a:solidFill>
                <a:latin typeface="Trebuchet M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02152" y="3017520"/>
            <a:ext cx="2377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730752" y="3218688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6FD8"/>
                </a:solidFill>
                <a:latin typeface="Trebuchet MS"/>
              </a:rPr>
              <a:t>MORADOR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0752" y="35661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0151C"/>
                </a:solidFill>
                <a:latin typeface="Trebuchet MS"/>
              </a:rPr>
              <a:t>Guarda o carimbo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0151C"/>
                </a:solidFill>
                <a:latin typeface="Trebuchet MS"/>
              </a:rPr>
              <a:t>na carteira do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0151C"/>
                </a:solidFill>
                <a:latin typeface="Trebuchet MS"/>
              </a:rPr>
              <a:t>seu aparelho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80" y="3749039"/>
            <a:ext cx="320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8A939E"/>
                </a:solidFill>
                <a:latin typeface="Trebuchet MS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7064" y="3017520"/>
            <a:ext cx="2377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55664" y="3218688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040"/>
                </a:solidFill>
                <a:latin typeface="Trebuchet MS"/>
              </a:rPr>
              <a:t>RESTAURANTE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35661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0151C"/>
                </a:solidFill>
                <a:latin typeface="Trebuchet MS"/>
              </a:rPr>
              <a:t>Verifica o carimbo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0151C"/>
                </a:solidFill>
                <a:latin typeface="Trebuchet MS"/>
              </a:rPr>
              <a:t>do A sozinho, sem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0151C"/>
                </a:solidFill>
                <a:latin typeface="Trebuchet MS"/>
              </a:rPr>
              <a:t>consultar o 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22792" y="3749039"/>
            <a:ext cx="320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8A939E"/>
                </a:solidFill>
                <a:latin typeface="Trebuchet MS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51976" y="3017520"/>
            <a:ext cx="2377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80576" y="3218688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E07A00"/>
                </a:solidFill>
                <a:latin typeface="Trebuchet MS"/>
              </a:rPr>
              <a:t>REDE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0576" y="35661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0151C"/>
                </a:solidFill>
                <a:latin typeface="Trebuchet MS"/>
              </a:rPr>
              <a:t>Fecha a cartela,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0151C"/>
                </a:solidFill>
                <a:latin typeface="Trebuchet MS"/>
              </a:rPr>
              <a:t>emite o vale e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0151C"/>
                </a:solidFill>
                <a:latin typeface="Trebuchet MS"/>
              </a:rPr>
              <a:t>impede resgate duplo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120640"/>
            <a:ext cx="10607040" cy="1005840"/>
          </a:xfrm>
          <a:prstGeom prst="roundRect">
            <a:avLst>
              <a:gd name="adj" fmla="val 8000"/>
            </a:avLst>
          </a:prstGeom>
          <a:solidFill>
            <a:srgbClr val="E7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097280" y="5321808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0A4C96"/>
                </a:solidFill>
                <a:latin typeface="Trebuchet MS"/>
              </a:rPr>
              <a:t>O caso de uso que roda em cima: uma cartela em que a recompensa cresce com o número de restaurantes diferentes,</a:t>
            </a:r>
          </a:p>
          <a:p>
            <a:pPr algn="l">
              <a:lnSpc>
                <a:spcPct val="130000"/>
              </a:lnSpc>
            </a:pPr>
            <a:r>
              <a:rPr sz="1450" b="0">
                <a:solidFill>
                  <a:srgbClr val="0A4C96"/>
                </a:solidFill>
                <a:latin typeface="Trebuchet MS"/>
              </a:rPr>
              <a:t>não com o valor gasto. Isso espalha o movimento em vez de concentrar — e a placa de 10% na porta não faz isso.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2764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939E"/>
                </a:solidFill>
                <a:latin typeface="Trebuchet MS"/>
              </a:rPr>
              <a:t>SOU+OLÍMPIA · GRUPO 4 · IDEATHON OLIMPIALAB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632764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939E"/>
                </a:solidFill>
                <a:latin typeface="Trebuchet M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E6FD8"/>
                </a:solidFill>
                <a:latin typeface="Trebuchet MS"/>
              </a:rPr>
              <a:t>O PRODUTO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>
                <a:solidFill>
                  <a:srgbClr val="10151C"/>
                </a:solidFill>
                <a:latin typeface="Trebuchet MS"/>
              </a:rPr>
              <a:t>Duas telas: o morador e o restaurante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19072"/>
            <a:ext cx="1005840" cy="54864"/>
          </a:xfrm>
          <a:prstGeom prst="rect">
            <a:avLst/>
          </a:prstGeom>
          <a:solidFill>
            <a:srgbClr val="0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rop-f009-morad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2148840"/>
            <a:ext cx="1701209" cy="3657600"/>
          </a:xfrm>
          <a:prstGeom prst="rect">
            <a:avLst/>
          </a:prstGeom>
        </p:spPr>
      </p:pic>
      <p:pic>
        <p:nvPicPr>
          <p:cNvPr id="7" name="Picture 6" descr="crop-f011-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2148840"/>
            <a:ext cx="1701209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71600" y="589788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>
                <a:solidFill>
                  <a:srgbClr val="49535F"/>
                </a:solidFill>
                <a:latin typeface="Trebuchet MS"/>
              </a:rPr>
              <a:t>Cartela e vale com código assinado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589788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>
                <a:solidFill>
                  <a:srgbClr val="49535F"/>
                </a:solidFill>
                <a:latin typeface="Trebuchet MS"/>
              </a:rPr>
              <a:t>Balcão: carimbar, verificar e resgatar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939E"/>
                </a:solidFill>
                <a:latin typeface="Trebuchet MS"/>
              </a:rPr>
              <a:t>SOU+OLÍMPIA · GRUPO 4 · IDEATHON OLIMPIALAB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32764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939E"/>
                </a:solidFill>
                <a:latin typeface="Trebuchet M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E6FD8"/>
                </a:solidFill>
                <a:latin typeface="Trebuchet MS"/>
              </a:rPr>
              <a:t>ENTREGA OBRIGATÓRIA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>
                <a:solidFill>
                  <a:srgbClr val="10151C"/>
                </a:solidFill>
                <a:latin typeface="Trebuchet MS"/>
              </a:rPr>
              <a:t>Sistema rodando, sem servidor</a:t>
            </a:r>
          </a:p>
          <a:p>
            <a:pPr algn="l">
              <a:lnSpc>
                <a:spcPct val="102000"/>
              </a:lnSpc>
            </a:pPr>
            <a:r>
              <a:rPr sz="3400" b="1">
                <a:solidFill>
                  <a:srgbClr val="10151C"/>
                </a:solidFill>
                <a:latin typeface="Trebuchet MS"/>
              </a:rPr>
              <a:t>e sem internet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19072"/>
            <a:ext cx="1005840" cy="54864"/>
          </a:xfrm>
          <a:prstGeom prst="rect">
            <a:avLst/>
          </a:prstGeom>
          <a:solidFill>
            <a:srgbClr val="0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Sou+Olimpia-demo-narrad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108960" y="2148840"/>
            <a:ext cx="594360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5486400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50" b="0">
                <a:solidFill>
                  <a:srgbClr val="49535F"/>
                </a:solidFill>
                <a:latin typeface="Trebuchet MS"/>
              </a:rPr>
              <a:t>Toda a criptografia acontece no navegador. Um restaurante valida o carimbo do outro usando só a chave pública</a:t>
            </a:r>
          </a:p>
          <a:p>
            <a:pPr algn="ctr">
              <a:lnSpc>
                <a:spcPct val="130000"/>
              </a:lnSpc>
            </a:pPr>
            <a:r>
              <a:rPr sz="1450" b="0">
                <a:solidFill>
                  <a:srgbClr val="49535F"/>
                </a:solidFill>
                <a:latin typeface="Trebuchet MS"/>
              </a:rPr>
              <a:t>da prefeitura. Resgate duplo é recusado e carimbo adulterado é rejeitado na hora.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939E"/>
                </a:solidFill>
                <a:latin typeface="Trebuchet MS"/>
              </a:rPr>
              <a:t>SOU+OLÍMPIA · GRUPO 4 · IDEATHON OLIMPIALAB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32764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939E"/>
                </a:solidFill>
                <a:latin typeface="Trebuchet MS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E6FD8"/>
                </a:solidFill>
                <a:latin typeface="Trebuchet MS"/>
              </a:rPr>
              <a:t>QUANTO RENDE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>
                <a:solidFill>
                  <a:srgbClr val="10151C"/>
                </a:solidFill>
                <a:latin typeface="Trebuchet MS"/>
              </a:rPr>
              <a:t>20 mil cenários simulados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19072"/>
            <a:ext cx="1005840" cy="54864"/>
          </a:xfrm>
          <a:prstGeom prst="rect">
            <a:avLst/>
          </a:prstGeom>
          <a:solidFill>
            <a:srgbClr val="0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194560"/>
            <a:ext cx="333756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1560" y="2377440"/>
            <a:ext cx="2788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A4C96"/>
                </a:solidFill>
                <a:latin typeface="Trebuchet MS"/>
              </a:rPr>
              <a:t>R$ 4,82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889504"/>
            <a:ext cx="2880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49535F"/>
                </a:solidFill>
                <a:latin typeface="Trebuchet MS"/>
              </a:rPr>
              <a:t>de receita incremental para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49535F"/>
                </a:solidFill>
                <a:latin typeface="Trebuchet MS"/>
              </a:rPr>
              <a:t>cada real concedido em vale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194560"/>
            <a:ext cx="333756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663440" y="2377440"/>
            <a:ext cx="2788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A4C96"/>
                </a:solidFill>
                <a:latin typeface="Trebuchet MS"/>
              </a:rPr>
              <a:t>81%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889504"/>
            <a:ext cx="2880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49535F"/>
                </a:solidFill>
                <a:latin typeface="Trebuchet MS"/>
              </a:rPr>
              <a:t>das simulações dão lucro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49535F"/>
                </a:solidFill>
                <a:latin typeface="Trebuchet MS"/>
              </a:rPr>
              <a:t>para o restaurante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1000" y="2194560"/>
            <a:ext cx="333756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75320" y="2377440"/>
            <a:ext cx="2788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A4C96"/>
                </a:solidFill>
                <a:latin typeface="Trebuchet MS"/>
              </a:rPr>
              <a:t>20%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2889504"/>
            <a:ext cx="2880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49535F"/>
                </a:solidFill>
                <a:latin typeface="Trebuchet MS"/>
              </a:rPr>
              <a:t>de incrementalidade é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49535F"/>
                </a:solidFill>
                <a:latin typeface="Trebuchet MS"/>
              </a:rPr>
              <a:t>o ponto de virada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749039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49535F"/>
                </a:solidFill>
                <a:latin typeface="Trebuchet MS"/>
              </a:rPr>
              <a:t>Incrementalidade mínima para o restaurante não perder, margem bruta de 28%: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224528"/>
            <a:ext cx="4846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8A939E"/>
                </a:solidFill>
                <a:latin typeface="Trebuchet MS"/>
              </a:rPr>
              <a:t>DESENHO DA CARTELA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23560" y="4224528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8A939E"/>
                </a:solidFill>
                <a:latin typeface="Trebuchet MS"/>
              </a:rPr>
              <a:t>TICKET R$ 40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4224528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8A939E"/>
                </a:solidFill>
                <a:latin typeface="Trebuchet MS"/>
              </a:rPr>
              <a:t>R$ 60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64040" y="4224528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8A939E"/>
                </a:solidFill>
                <a:latin typeface="Trebuchet MS"/>
              </a:rPr>
              <a:t>R$ 90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526280"/>
            <a:ext cx="10607040" cy="18288"/>
          </a:xfrm>
          <a:prstGeom prst="rect">
            <a:avLst/>
          </a:prstGeom>
          <a:solidFill>
            <a:srgbClr val="10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31520" y="4590288"/>
            <a:ext cx="10698480" cy="512064"/>
          </a:xfrm>
          <a:prstGeom prst="roundRect">
            <a:avLst>
              <a:gd name="adj" fmla="val 14000"/>
            </a:avLst>
          </a:prstGeom>
          <a:solidFill>
            <a:srgbClr val="FB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77240" y="4663440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0151C"/>
                </a:solidFill>
                <a:latin typeface="Trebuchet MS"/>
              </a:rPr>
              <a:t>3 carimbos · vale R$ 30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3560" y="4663440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D62718"/>
                </a:solidFill>
                <a:latin typeface="Trebuchet MS"/>
              </a:rPr>
              <a:t>60%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800" y="4663440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D62718"/>
                </a:solidFill>
                <a:latin typeface="Trebuchet MS"/>
              </a:rPr>
              <a:t>45%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4040" y="4663440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D62718"/>
                </a:solidFill>
                <a:latin typeface="Trebuchet MS"/>
              </a:rPr>
              <a:t>30%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5212079"/>
            <a:ext cx="10698480" cy="512064"/>
          </a:xfrm>
          <a:prstGeom prst="roundRect">
            <a:avLst>
              <a:gd name="adj" fmla="val 14000"/>
            </a:avLst>
          </a:prstGeom>
          <a:solidFill>
            <a:srgbClr val="ED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77240" y="5285231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0151C"/>
                </a:solidFill>
                <a:latin typeface="Trebuchet MS"/>
              </a:rPr>
              <a:t>5 carimbos · vale R$ 20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23560" y="5285231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128040"/>
                </a:solidFill>
                <a:latin typeface="Trebuchet MS"/>
              </a:rPr>
              <a:t>30%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3800" y="5285231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128040"/>
                </a:solidFill>
                <a:latin typeface="Trebuchet MS"/>
              </a:rPr>
              <a:t>20%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5285231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128040"/>
                </a:solidFill>
                <a:latin typeface="Trebuchet MS"/>
              </a:rPr>
              <a:t>13%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952743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9535F"/>
                </a:solidFill>
                <a:latin typeface="Trebuchet MS"/>
              </a:rPr>
              <a:t>Fidelidade entrega de 10% a 30%. O desenho de 3 carimbos com vale de R$ 30 não fecha; cartela de 5 com vale de R$ 20 fecha.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32764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939E"/>
                </a:solidFill>
                <a:latin typeface="Trebuchet MS"/>
              </a:rPr>
              <a:t>SOU+OLÍMPIA · GRUPO 4 · IDEATHON OLIMPIALAB 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632764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939E"/>
                </a:solidFill>
                <a:latin typeface="Trebuchet M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E6FD8"/>
                </a:solidFill>
                <a:latin typeface="Trebuchet MS"/>
              </a:rPr>
              <a:t>COMO TESTAMOS E VALIDAMOS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>
                <a:solidFill>
                  <a:srgbClr val="10151C"/>
                </a:solidFill>
                <a:latin typeface="Trebuchet MS"/>
              </a:rPr>
              <a:t>Um teste de campo em 30 dias,</a:t>
            </a:r>
          </a:p>
          <a:p>
            <a:pPr algn="l">
              <a:lnSpc>
                <a:spcPct val="102000"/>
              </a:lnSpc>
            </a:pPr>
            <a:r>
              <a:rPr sz="3400" b="1">
                <a:solidFill>
                  <a:srgbClr val="10151C"/>
                </a:solidFill>
                <a:latin typeface="Trebuchet MS"/>
              </a:rPr>
              <a:t>com custo perto de zero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19072"/>
            <a:ext cx="1005840" cy="54864"/>
          </a:xfrm>
          <a:prstGeom prst="rect">
            <a:avLst/>
          </a:prstGeom>
          <a:solidFill>
            <a:srgbClr val="0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333756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77240" y="2148840"/>
            <a:ext cx="3337560" cy="82296"/>
          </a:xfrm>
          <a:prstGeom prst="rect">
            <a:avLst/>
          </a:prstGeom>
          <a:solidFill>
            <a:srgbClr val="128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" y="2395728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0151C"/>
                </a:solidFill>
                <a:latin typeface="Trebuchet MS"/>
              </a:rPr>
              <a:t>Já validado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2834640"/>
            <a:ext cx="283464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49535F"/>
                </a:solidFill>
                <a:latin typeface="Trebuchet MS"/>
              </a:rPr>
              <a:t>O protótipo roda: credencial assinada,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49535F"/>
                </a:solidFill>
                <a:latin typeface="Trebuchet MS"/>
              </a:rPr>
              <a:t>verificação offline entre restaurantes,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49535F"/>
                </a:solidFill>
                <a:latin typeface="Trebuchet MS"/>
              </a:rPr>
              <a:t>resgate único e carimbo adulterado rejeitado.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49535F"/>
                </a:solidFill>
                <a:latin typeface="Trebuchet M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49535F"/>
                </a:solidFill>
                <a:latin typeface="Trebuchet MS"/>
              </a:rPr>
              <a:t>Testado por script em dois navegadores.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148840"/>
            <a:ext cx="333756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89120" y="2148840"/>
            <a:ext cx="3337560" cy="82296"/>
          </a:xfrm>
          <a:prstGeom prst="rect">
            <a:avLst/>
          </a:prstGeom>
          <a:solidFill>
            <a:srgbClr val="0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45152" y="2395728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0151C"/>
                </a:solidFill>
                <a:latin typeface="Trebuchet MS"/>
              </a:rPr>
              <a:t>O teste de campo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834640"/>
            <a:ext cx="283464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49535F"/>
                </a:solidFill>
                <a:latin typeface="Trebuchet MS"/>
              </a:rPr>
              <a:t>3 a 5 restaurantes na mesma rua,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49535F"/>
                </a:solidFill>
                <a:latin typeface="Trebuchet MS"/>
              </a:rPr>
              <a:t>15% para morador, duas semanas de um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49535F"/>
                </a:solidFill>
                <a:latin typeface="Trebuchet MS"/>
              </a:rPr>
              <a:t>mês de vale (maio ou junho).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49535F"/>
                </a:solidFill>
                <a:latin typeface="Trebuchet M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49535F"/>
                </a:solidFill>
                <a:latin typeface="Trebuchet MS"/>
              </a:rPr>
              <a:t>Grupo de controle: restaurantes parecidos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49535F"/>
                </a:solidFill>
                <a:latin typeface="Trebuchet MS"/>
              </a:rPr>
              <a:t>que não participam.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2148840"/>
            <a:ext cx="333756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8001000" y="2148840"/>
            <a:ext cx="3337560" cy="82296"/>
          </a:xfrm>
          <a:prstGeom prst="rect">
            <a:avLst/>
          </a:prstGeom>
          <a:solidFill>
            <a:srgbClr val="E0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7031" y="2395728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0151C"/>
                </a:solidFill>
                <a:latin typeface="Trebuchet MS"/>
              </a:rPr>
              <a:t>O critério, definido antes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2834640"/>
            <a:ext cx="283464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49535F"/>
                </a:solidFill>
                <a:latin typeface="Trebuchet MS"/>
              </a:rPr>
              <a:t>Restaurantes distintos por cliente —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49535F"/>
                </a:solidFill>
                <a:latin typeface="Trebuchet MS"/>
              </a:rPr>
              <a:t>é o que o programa promete mudar.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49535F"/>
                </a:solidFill>
                <a:latin typeface="Trebuchet M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49535F"/>
                </a:solidFill>
                <a:latin typeface="Trebuchet MS"/>
              </a:rPr>
              <a:t>Transações por dia contra as duas semanas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49535F"/>
                </a:solidFill>
                <a:latin typeface="Trebuchet MS"/>
              </a:rPr>
              <a:t>anteriores e contra o ano passado.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49535F"/>
                </a:solidFill>
                <a:latin typeface="Trebuchet M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49535F"/>
                </a:solidFill>
                <a:latin typeface="Trebuchet MS"/>
              </a:rPr>
              <a:t>Sucesso: +15% no tratado sobre o controle.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532120"/>
            <a:ext cx="10607040" cy="685800"/>
          </a:xfrm>
          <a:prstGeom prst="roundRect">
            <a:avLst>
              <a:gd name="adj" fmla="val 10000"/>
            </a:avLst>
          </a:prstGeom>
          <a:solidFill>
            <a:srgbClr val="E7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97280" y="5705856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A4C96"/>
                </a:solidFill>
                <a:latin typeface="Trebuchet MS"/>
              </a:rPr>
              <a:t>Se o movimento não subir, a ideia morre custando zero — e descobrimos algo que ninguém em Olímpia sabia.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2764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939E"/>
                </a:solidFill>
                <a:latin typeface="Trebuchet MS"/>
              </a:rPr>
              <a:t>SOU+OLÍMPIA · GRUPO 4 · IDEATHON OLIMPIALAB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632764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939E"/>
                </a:solidFill>
                <a:latin typeface="Trebuchet M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3511296" cy="1371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743200"/>
            <a:ext cx="100584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0151C"/>
                </a:solidFill>
                <a:latin typeface="Trebuchet MS"/>
              </a:rPr>
              <a:t>“Olímpia fatura 26% do seu ano de serviços em dois meses.</a:t>
            </a:r>
          </a:p>
          <a:p>
            <a:pPr algn="l">
              <a:lnSpc>
                <a:spcPct val="125000"/>
              </a:lnSpc>
            </a:pPr>
            <a:r>
              <a:rPr sz="2800" b="1">
                <a:solidFill>
                  <a:srgbClr val="10151C"/>
                </a:solidFill>
                <a:latin typeface="Trebuchet MS"/>
              </a:rPr>
              <a:t>O problema não é falta de cliente — é falta de uma camada</a:t>
            </a:r>
          </a:p>
          <a:p>
            <a:pPr algn="l">
              <a:lnSpc>
                <a:spcPct val="125000"/>
              </a:lnSpc>
            </a:pPr>
            <a:r>
              <a:rPr sz="2800" b="1">
                <a:solidFill>
                  <a:srgbClr val="10151C"/>
                </a:solidFill>
                <a:latin typeface="Trebuchet MS"/>
              </a:rPr>
              <a:t>que permita os negócios da cidade agirem juntos.”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846320"/>
            <a:ext cx="10332720" cy="914400"/>
          </a:xfrm>
          <a:prstGeom prst="roundRect">
            <a:avLst>
              <a:gd name="adj" fmla="val 8000"/>
            </a:avLst>
          </a:prstGeom>
          <a:solidFill>
            <a:srgbClr val="E7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34440" y="5074920"/>
            <a:ext cx="9784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A4C96"/>
                </a:solidFill>
                <a:latin typeface="Trebuchet MS"/>
              </a:rPr>
              <a:t>Sou+Olímpia · a rede de confiança que a cidade ainda não tem — e o programa de circulação que roda em cima dela.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98932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A939E"/>
                </a:solidFill>
                <a:latin typeface="Trebuchet MS"/>
              </a:rPr>
              <a:t>Grupo 4 · Ideathon OlimpiaLab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